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761"/>
          </a:solidFill>
          <a:ln/>
        </p:spPr>
      </p:sp>
      <p:sp>
        <p:nvSpPr>
          <p:cNvPr id="3" name="Shape 1"/>
          <p:cNvSpPr/>
          <p:nvPr/>
        </p:nvSpPr>
        <p:spPr>
          <a:xfrm>
            <a:off x="8778240" y="-2377440"/>
            <a:ext cx="6400800" cy="6400800"/>
          </a:xfrm>
          <a:prstGeom prst="ellipse">
            <a:avLst/>
          </a:prstGeom>
          <a:solidFill>
            <a:srgbClr val="141A47"/>
          </a:solidFill>
          <a:ln/>
        </p:spPr>
      </p:sp>
      <p:sp>
        <p:nvSpPr>
          <p:cNvPr id="4" name="Shape 2"/>
          <p:cNvSpPr/>
          <p:nvPr/>
        </p:nvSpPr>
        <p:spPr>
          <a:xfrm>
            <a:off x="10424160" y="3291840"/>
            <a:ext cx="3840480" cy="3840480"/>
          </a:xfrm>
          <a:prstGeom prst="ellipse">
            <a:avLst/>
          </a:prstGeom>
          <a:solidFill>
            <a:srgbClr val="141A47"/>
          </a:solidFill>
          <a:ln/>
        </p:spPr>
      </p:sp>
      <p:sp>
        <p:nvSpPr>
          <p:cNvPr id="5" name="Text 3"/>
          <p:cNvSpPr txBox="1"/>
          <p:nvPr/>
        </p:nvSpPr>
        <p:spPr>
          <a:xfrm>
            <a:off x="640080" y="1417320"/>
            <a:ext cx="7315200" cy="32004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BUILD WALKTHROUGH</a:t>
            </a:r>
            <a:endParaRPr lang="en-US" sz="1200" dirty="0"/>
          </a:p>
        </p:txBody>
      </p:sp>
      <p:sp>
        <p:nvSpPr>
          <p:cNvPr id="6" name="Text 4"/>
          <p:cNvSpPr txBox="1"/>
          <p:nvPr/>
        </p:nvSpPr>
        <p:spPr>
          <a:xfrm>
            <a:off x="640080" y="1828800"/>
            <a:ext cx="8778240" cy="1737360"/>
          </a:xfrm>
          <a:prstGeom prst="rect">
            <a:avLst/>
          </a:prstGeom>
          <a:noFill/>
          <a:ln/>
        </p:spPr>
        <p:txBody>
          <a:bodyPr wrap="square" lIns="0" tIns="0" rIns="0" bIns="0" rtlCol="0" anchor="ctr"/>
          <a:lstStyle/>
          <a:p>
            <a:pPr indent="0" marL="0">
              <a:lnSpc>
                <a:spcPct val="102000"/>
              </a:lnSpc>
              <a:buNone/>
            </a:pPr>
            <a:r>
              <a:rPr lang="en-US" sz="4200" b="1" dirty="0">
                <a:solidFill>
                  <a:srgbClr val="FFFFFF"/>
                </a:solidFill>
                <a:latin typeface="Cambria" pitchFamily="34" charset="0"/>
                <a:ea typeface="Cambria" pitchFamily="34" charset="-122"/>
                <a:cs typeface="Cambria" pitchFamily="34" charset="-120"/>
              </a:rPr>
              <a:t>Inventory &amp; Procurement</a:t>
            </a:r>
            <a:endParaRPr lang="en-US" sz="4200" dirty="0"/>
          </a:p>
          <a:p>
            <a:pPr indent="0" marL="0">
              <a:lnSpc>
                <a:spcPct val="102000"/>
              </a:lnSpc>
              <a:buNone/>
            </a:pPr>
            <a:r>
              <a:rPr lang="en-US" sz="4200" b="1" dirty="0">
                <a:solidFill>
                  <a:srgbClr val="FFFFFF"/>
                </a:solidFill>
                <a:latin typeface="Cambria" pitchFamily="34" charset="0"/>
                <a:ea typeface="Cambria" pitchFamily="34" charset="-122"/>
                <a:cs typeface="Cambria" pitchFamily="34" charset="-120"/>
              </a:rPr>
              <a:t>Assistant</a:t>
            </a:r>
            <a:endParaRPr lang="en-US" sz="4200" dirty="0"/>
          </a:p>
        </p:txBody>
      </p:sp>
      <p:sp>
        <p:nvSpPr>
          <p:cNvPr id="7" name="Text 5"/>
          <p:cNvSpPr txBox="1"/>
          <p:nvPr/>
        </p:nvSpPr>
        <p:spPr>
          <a:xfrm>
            <a:off x="640080" y="3520440"/>
            <a:ext cx="8961120" cy="777240"/>
          </a:xfrm>
          <a:prstGeom prst="rect">
            <a:avLst/>
          </a:prstGeom>
          <a:noFill/>
          <a:ln/>
        </p:spPr>
        <p:txBody>
          <a:bodyPr wrap="square" lIns="0" tIns="0" rIns="0" bIns="0" rtlCol="0" anchor="ctr"/>
          <a:lstStyle/>
          <a:p>
            <a:pPr indent="0" marL="0">
              <a:lnSpc>
                <a:spcPct val="125000"/>
              </a:lnSpc>
              <a:buNone/>
            </a:pPr>
            <a:r>
              <a:rPr lang="en-US" sz="1550" dirty="0">
                <a:solidFill>
                  <a:srgbClr val="CADCFC"/>
                </a:solidFill>
                <a:latin typeface="Calibri" pitchFamily="34" charset="0"/>
                <a:ea typeface="Calibri" pitchFamily="34" charset="-122"/>
                <a:cs typeface="Calibri" pitchFamily="34" charset="-120"/>
              </a:rPr>
              <a:t>How a role-based manufacturing chatbot went from a one-paragraph brief</a:t>
            </a:r>
            <a:endParaRPr lang="en-US" sz="1550" dirty="0"/>
          </a:p>
          <a:p>
            <a:pPr indent="0" marL="0">
              <a:lnSpc>
                <a:spcPct val="125000"/>
              </a:lnSpc>
              <a:buNone/>
            </a:pPr>
            <a:r>
              <a:rPr lang="en-US" sz="1550" dirty="0">
                <a:solidFill>
                  <a:srgbClr val="CADCFC"/>
                </a:solidFill>
                <a:latin typeface="Calibri" pitchFamily="34" charset="0"/>
                <a:ea typeface="Calibri" pitchFamily="34" charset="-122"/>
                <a:cs typeface="Calibri" pitchFamily="34" charset="-120"/>
              </a:rPr>
              <a:t>to the app running at localhost:3000 — for Trisha, Product Manager</a:t>
            </a:r>
            <a:endParaRPr lang="en-US" sz="1550" dirty="0"/>
          </a:p>
        </p:txBody>
      </p:sp>
      <p:sp>
        <p:nvSpPr>
          <p:cNvPr id="8" name="Shape 6"/>
          <p:cNvSpPr/>
          <p:nvPr/>
        </p:nvSpPr>
        <p:spPr>
          <a:xfrm>
            <a:off x="640080" y="5806440"/>
            <a:ext cx="947318" cy="384048"/>
          </a:xfrm>
          <a:prstGeom prst="roundRect">
            <a:avLst>
              <a:gd name="adj" fmla="val 50000"/>
            </a:avLst>
          </a:prstGeom>
          <a:solidFill>
            <a:srgbClr val="141A47"/>
          </a:solidFill>
          <a:ln w="12700">
            <a:solidFill>
              <a:srgbClr val="3A4380"/>
            </a:solidFill>
            <a:prstDash val="solid"/>
          </a:ln>
        </p:spPr>
      </p:sp>
      <p:sp>
        <p:nvSpPr>
          <p:cNvPr id="9" name="Text 7"/>
          <p:cNvSpPr txBox="1"/>
          <p:nvPr/>
        </p:nvSpPr>
        <p:spPr>
          <a:xfrm>
            <a:off x="640080" y="5806440"/>
            <a:ext cx="947318" cy="384048"/>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Next.js</a:t>
            </a:r>
            <a:endParaRPr lang="en-US" sz="1150" dirty="0"/>
          </a:p>
        </p:txBody>
      </p:sp>
      <p:sp>
        <p:nvSpPr>
          <p:cNvPr id="10" name="Shape 8"/>
          <p:cNvSpPr/>
          <p:nvPr/>
        </p:nvSpPr>
        <p:spPr>
          <a:xfrm>
            <a:off x="1788566" y="5806440"/>
            <a:ext cx="947318" cy="384048"/>
          </a:xfrm>
          <a:prstGeom prst="roundRect">
            <a:avLst>
              <a:gd name="adj" fmla="val 50000"/>
            </a:avLst>
          </a:prstGeom>
          <a:solidFill>
            <a:srgbClr val="141A47"/>
          </a:solidFill>
          <a:ln w="12700">
            <a:solidFill>
              <a:srgbClr val="3A4380"/>
            </a:solidFill>
            <a:prstDash val="solid"/>
          </a:ln>
        </p:spPr>
      </p:sp>
      <p:sp>
        <p:nvSpPr>
          <p:cNvPr id="11" name="Text 9"/>
          <p:cNvSpPr txBox="1"/>
          <p:nvPr/>
        </p:nvSpPr>
        <p:spPr>
          <a:xfrm>
            <a:off x="1788566" y="5806440"/>
            <a:ext cx="947318" cy="384048"/>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FastAPI</a:t>
            </a:r>
            <a:endParaRPr lang="en-US" sz="1150" dirty="0"/>
          </a:p>
        </p:txBody>
      </p:sp>
      <p:sp>
        <p:nvSpPr>
          <p:cNvPr id="12" name="Shape 10"/>
          <p:cNvSpPr/>
          <p:nvPr/>
        </p:nvSpPr>
        <p:spPr>
          <a:xfrm>
            <a:off x="2937053" y="5806440"/>
            <a:ext cx="1144829" cy="384048"/>
          </a:xfrm>
          <a:prstGeom prst="roundRect">
            <a:avLst>
              <a:gd name="adj" fmla="val 50000"/>
            </a:avLst>
          </a:prstGeom>
          <a:solidFill>
            <a:srgbClr val="141A47"/>
          </a:solidFill>
          <a:ln w="12700">
            <a:solidFill>
              <a:srgbClr val="3A4380"/>
            </a:solidFill>
            <a:prstDash val="solid"/>
          </a:ln>
        </p:spPr>
      </p:sp>
      <p:sp>
        <p:nvSpPr>
          <p:cNvPr id="13" name="Text 11"/>
          <p:cNvSpPr txBox="1"/>
          <p:nvPr/>
        </p:nvSpPr>
        <p:spPr>
          <a:xfrm>
            <a:off x="2937053" y="5806440"/>
            <a:ext cx="1144829" cy="384048"/>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LangGraph</a:t>
            </a:r>
            <a:endParaRPr lang="en-US" sz="1150" dirty="0"/>
          </a:p>
        </p:txBody>
      </p:sp>
      <p:sp>
        <p:nvSpPr>
          <p:cNvPr id="14" name="Shape 12"/>
          <p:cNvSpPr/>
          <p:nvPr/>
        </p:nvSpPr>
        <p:spPr>
          <a:xfrm>
            <a:off x="4283050" y="5806440"/>
            <a:ext cx="2132381" cy="384048"/>
          </a:xfrm>
          <a:prstGeom prst="roundRect">
            <a:avLst>
              <a:gd name="adj" fmla="val 50000"/>
            </a:avLst>
          </a:prstGeom>
          <a:solidFill>
            <a:srgbClr val="141A47"/>
          </a:solidFill>
          <a:ln w="12700">
            <a:solidFill>
              <a:srgbClr val="3A4380"/>
            </a:solidFill>
            <a:prstDash val="solid"/>
          </a:ln>
        </p:spPr>
      </p:sp>
      <p:sp>
        <p:nvSpPr>
          <p:cNvPr id="15" name="Text 13"/>
          <p:cNvSpPr txBox="1"/>
          <p:nvPr/>
        </p:nvSpPr>
        <p:spPr>
          <a:xfrm>
            <a:off x="4283050" y="5806440"/>
            <a:ext cx="2132381" cy="384048"/>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OpenAI GPT-4.1 mini</a:t>
            </a:r>
            <a:endParaRPr lang="en-US" sz="1150" dirty="0"/>
          </a:p>
        </p:txBody>
      </p:sp>
      <p:sp>
        <p:nvSpPr>
          <p:cNvPr id="16" name="Shape 14"/>
          <p:cNvSpPr/>
          <p:nvPr/>
        </p:nvSpPr>
        <p:spPr>
          <a:xfrm>
            <a:off x="6616598" y="5806440"/>
            <a:ext cx="1243584" cy="384048"/>
          </a:xfrm>
          <a:prstGeom prst="roundRect">
            <a:avLst>
              <a:gd name="adj" fmla="val 50000"/>
            </a:avLst>
          </a:prstGeom>
          <a:solidFill>
            <a:srgbClr val="141A47"/>
          </a:solidFill>
          <a:ln w="12700">
            <a:solidFill>
              <a:srgbClr val="3A4380"/>
            </a:solidFill>
            <a:prstDash val="solid"/>
          </a:ln>
        </p:spPr>
      </p:sp>
      <p:sp>
        <p:nvSpPr>
          <p:cNvPr id="17" name="Text 15"/>
          <p:cNvSpPr txBox="1"/>
          <p:nvPr/>
        </p:nvSpPr>
        <p:spPr>
          <a:xfrm>
            <a:off x="6616598" y="5806440"/>
            <a:ext cx="1243584" cy="384048"/>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PostgreSQL</a:t>
            </a:r>
            <a:endParaRPr lang="en-US" sz="1150" dirty="0"/>
          </a:p>
        </p:txBody>
      </p:sp>
      <p:sp>
        <p:nvSpPr>
          <p:cNvPr id="18" name="Text 16"/>
          <p:cNvSpPr txBox="1"/>
          <p:nvPr/>
        </p:nvSpPr>
        <p:spPr>
          <a:xfrm>
            <a:off x="640080" y="6400800"/>
            <a:ext cx="7315200" cy="274320"/>
          </a:xfrm>
          <a:prstGeom prst="rect">
            <a:avLst/>
          </a:prstGeom>
          <a:noFill/>
          <a:ln/>
        </p:spPr>
        <p:txBody>
          <a:bodyPr wrap="square" lIns="0" tIns="0" rIns="0" bIns="0" rtlCol="0" anchor="ctr"/>
          <a:lstStyle/>
          <a:p>
            <a:pPr indent="0" marL="0">
              <a:buNone/>
            </a:pPr>
            <a:r>
              <a:rPr lang="en-US" sz="1050" dirty="0">
                <a:solidFill>
                  <a:srgbClr val="8E97C4"/>
                </a:solidFill>
                <a:latin typeface="Calibri" pitchFamily="34" charset="0"/>
                <a:ea typeface="Calibri" pitchFamily="34" charset="-122"/>
                <a:cs typeface="Calibri" pitchFamily="34" charset="-120"/>
              </a:rPr>
              <a:t>Prepared for Trisha Dhawe  ·  September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A93C"/>
                </a:solidFill>
                <a:latin typeface="Calibri" pitchFamily="34" charset="0"/>
                <a:ea typeface="Calibri" pitchFamily="34" charset="-122"/>
                <a:cs typeface="Calibri" pitchFamily="34" charset="-120"/>
              </a:rPr>
              <a:t>WHAT WAS ASKED</a:t>
            </a:r>
            <a:endParaRPr lang="en-US" sz="1200" dirty="0"/>
          </a:p>
        </p:txBody>
      </p:sp>
      <p:sp>
        <p:nvSpPr>
          <p:cNvPr id="3" name="Text 1"/>
          <p:cNvSpPr txBox="1"/>
          <p:nvPr/>
        </p:nvSpPr>
        <p:spPr>
          <a:xfrm>
            <a:off x="640080" y="749808"/>
            <a:ext cx="1051560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brief, in four constraints</a:t>
            </a:r>
            <a:endParaRPr lang="en-US" sz="3200" dirty="0"/>
          </a:p>
        </p:txBody>
      </p:sp>
      <p:sp>
        <p:nvSpPr>
          <p:cNvPr id="4" name="Shape 2"/>
          <p:cNvSpPr/>
          <p:nvPr/>
        </p:nvSpPr>
        <p:spPr>
          <a:xfrm>
            <a:off x="640080" y="1874520"/>
            <a:ext cx="384048" cy="384048"/>
          </a:xfrm>
          <a:prstGeom prst="ellipse">
            <a:avLst/>
          </a:prstGeom>
          <a:solidFill>
            <a:srgbClr val="1E2761"/>
          </a:solidFill>
          <a:ln/>
        </p:spPr>
      </p:sp>
      <p:sp>
        <p:nvSpPr>
          <p:cNvPr id="5" name="Text 3"/>
          <p:cNvSpPr txBox="1"/>
          <p:nvPr/>
        </p:nvSpPr>
        <p:spPr>
          <a:xfrm>
            <a:off x="640080" y="1874520"/>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1</a:t>
            </a:r>
            <a:endParaRPr lang="en-US" sz="1386" dirty="0"/>
          </a:p>
        </p:txBody>
      </p:sp>
      <p:sp>
        <p:nvSpPr>
          <p:cNvPr id="6" name="Text 4"/>
          <p:cNvSpPr txBox="1"/>
          <p:nvPr/>
        </p:nvSpPr>
        <p:spPr>
          <a:xfrm>
            <a:off x="1207008" y="1837944"/>
            <a:ext cx="501091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Not a techie</a:t>
            </a:r>
            <a:endParaRPr lang="en-US" sz="1400" dirty="0"/>
          </a:p>
        </p:txBody>
      </p:sp>
      <p:sp>
        <p:nvSpPr>
          <p:cNvPr id="7" name="Text 5"/>
          <p:cNvSpPr txBox="1"/>
          <p:nvPr/>
        </p:nvSpPr>
        <p:spPr>
          <a:xfrm>
            <a:off x="1207008" y="2130552"/>
            <a:ext cx="501091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Judge the build by whether it works and answers real questions — not by architectural elegance.</a:t>
            </a:r>
            <a:endParaRPr lang="en-US" sz="1150" dirty="0"/>
          </a:p>
        </p:txBody>
      </p:sp>
      <p:sp>
        <p:nvSpPr>
          <p:cNvPr id="8" name="Shape 6"/>
          <p:cNvSpPr/>
          <p:nvPr/>
        </p:nvSpPr>
        <p:spPr>
          <a:xfrm>
            <a:off x="640080" y="2898648"/>
            <a:ext cx="384048" cy="384048"/>
          </a:xfrm>
          <a:prstGeom prst="ellipse">
            <a:avLst/>
          </a:prstGeom>
          <a:solidFill>
            <a:srgbClr val="1E2761"/>
          </a:solidFill>
          <a:ln/>
        </p:spPr>
      </p:sp>
      <p:sp>
        <p:nvSpPr>
          <p:cNvPr id="9" name="Text 7"/>
          <p:cNvSpPr txBox="1"/>
          <p:nvPr/>
        </p:nvSpPr>
        <p:spPr>
          <a:xfrm>
            <a:off x="640080" y="2898648"/>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2</a:t>
            </a:r>
            <a:endParaRPr lang="en-US" sz="1386" dirty="0"/>
          </a:p>
        </p:txBody>
      </p:sp>
      <p:sp>
        <p:nvSpPr>
          <p:cNvPr id="10" name="Text 8"/>
          <p:cNvSpPr txBox="1"/>
          <p:nvPr/>
        </p:nvSpPr>
        <p:spPr>
          <a:xfrm>
            <a:off x="1207008" y="2862072"/>
            <a:ext cx="501091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One chatbot, three lenses</a:t>
            </a:r>
            <a:endParaRPr lang="en-US" sz="1400" dirty="0"/>
          </a:p>
        </p:txBody>
      </p:sp>
      <p:sp>
        <p:nvSpPr>
          <p:cNvPr id="11" name="Text 9"/>
          <p:cNvSpPr txBox="1"/>
          <p:nvPr/>
        </p:nvSpPr>
        <p:spPr>
          <a:xfrm>
            <a:off x="1207008" y="3154680"/>
            <a:ext cx="501091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Inventory Owner, Procurement Owner and Business Owner each ask the same bot different questions.</a:t>
            </a:r>
            <a:endParaRPr lang="en-US" sz="1150" dirty="0"/>
          </a:p>
        </p:txBody>
      </p:sp>
      <p:sp>
        <p:nvSpPr>
          <p:cNvPr id="12" name="Shape 10"/>
          <p:cNvSpPr/>
          <p:nvPr/>
        </p:nvSpPr>
        <p:spPr>
          <a:xfrm>
            <a:off x="640080" y="3922776"/>
            <a:ext cx="384048" cy="384048"/>
          </a:xfrm>
          <a:prstGeom prst="ellipse">
            <a:avLst/>
          </a:prstGeom>
          <a:solidFill>
            <a:srgbClr val="1E2761"/>
          </a:solidFill>
          <a:ln/>
        </p:spPr>
      </p:sp>
      <p:sp>
        <p:nvSpPr>
          <p:cNvPr id="13" name="Text 11"/>
          <p:cNvSpPr txBox="1"/>
          <p:nvPr/>
        </p:nvSpPr>
        <p:spPr>
          <a:xfrm>
            <a:off x="640080" y="3922776"/>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3</a:t>
            </a:r>
            <a:endParaRPr lang="en-US" sz="1386" dirty="0"/>
          </a:p>
        </p:txBody>
      </p:sp>
      <p:sp>
        <p:nvSpPr>
          <p:cNvPr id="14" name="Text 12"/>
          <p:cNvSpPr txBox="1"/>
          <p:nvPr/>
        </p:nvSpPr>
        <p:spPr>
          <a:xfrm>
            <a:off x="1207008" y="3886200"/>
            <a:ext cx="501091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17 real databases</a:t>
            </a:r>
            <a:endParaRPr lang="en-US" sz="1400" dirty="0"/>
          </a:p>
        </p:txBody>
      </p:sp>
      <p:sp>
        <p:nvSpPr>
          <p:cNvPr id="15" name="Text 13"/>
          <p:cNvSpPr txBox="1"/>
          <p:nvPr/>
        </p:nvSpPr>
        <p:spPr>
          <a:xfrm>
            <a:off x="1207008" y="4178808"/>
            <a:ext cx="501091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Transactions, stock, purchase orders and more — one Postgres instance, already provisioned.</a:t>
            </a:r>
            <a:endParaRPr lang="en-US" sz="1150" dirty="0"/>
          </a:p>
        </p:txBody>
      </p:sp>
      <p:sp>
        <p:nvSpPr>
          <p:cNvPr id="16" name="Shape 14"/>
          <p:cNvSpPr/>
          <p:nvPr/>
        </p:nvSpPr>
        <p:spPr>
          <a:xfrm>
            <a:off x="640080" y="4946904"/>
            <a:ext cx="384048" cy="384048"/>
          </a:xfrm>
          <a:prstGeom prst="ellipse">
            <a:avLst/>
          </a:prstGeom>
          <a:solidFill>
            <a:srgbClr val="1E2761"/>
          </a:solidFill>
          <a:ln/>
        </p:spPr>
      </p:sp>
      <p:sp>
        <p:nvSpPr>
          <p:cNvPr id="17" name="Text 15"/>
          <p:cNvSpPr txBox="1"/>
          <p:nvPr/>
        </p:nvSpPr>
        <p:spPr>
          <a:xfrm>
            <a:off x="640080" y="4946904"/>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4</a:t>
            </a:r>
            <a:endParaRPr lang="en-US" sz="1386" dirty="0"/>
          </a:p>
        </p:txBody>
      </p:sp>
      <p:sp>
        <p:nvSpPr>
          <p:cNvPr id="18" name="Text 16"/>
          <p:cNvSpPr txBox="1"/>
          <p:nvPr/>
        </p:nvSpPr>
        <p:spPr>
          <a:xfrm>
            <a:off x="1207008" y="4910328"/>
            <a:ext cx="501091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The whole loop</a:t>
            </a:r>
            <a:endParaRPr lang="en-US" sz="1400" dirty="0"/>
          </a:p>
        </p:txBody>
      </p:sp>
      <p:sp>
        <p:nvSpPr>
          <p:cNvPr id="19" name="Text 17"/>
          <p:cNvSpPr txBox="1"/>
          <p:nvPr/>
        </p:nvSpPr>
        <p:spPr>
          <a:xfrm>
            <a:off x="1207008" y="5202936"/>
            <a:ext cx="501091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Approval → purchase order → delivery → inventory holding — not just one table in isolation.</a:t>
            </a:r>
            <a:endParaRPr lang="en-US" sz="1150" dirty="0"/>
          </a:p>
        </p:txBody>
      </p:sp>
      <p:sp>
        <p:nvSpPr>
          <p:cNvPr id="20" name="Shape 18"/>
          <p:cNvSpPr/>
          <p:nvPr/>
        </p:nvSpPr>
        <p:spPr>
          <a:xfrm>
            <a:off x="6720840" y="1691640"/>
            <a:ext cx="4846320" cy="4572000"/>
          </a:xfrm>
          <a:prstGeom prst="roundRect">
            <a:avLst>
              <a:gd name="adj" fmla="val 1600"/>
            </a:avLst>
          </a:prstGeom>
          <a:solidFill>
            <a:srgbClr val="EEF3FC"/>
          </a:solidFill>
          <a:ln/>
          <a:effectLst>
            <a:outerShdw sx="100000" sy="100000" kx="0" ky="0" algn="bl" rotWithShape="0" blurRad="76200" dist="25400" dir="5400000">
              <a:srgbClr val="8B93B8">
                <a:alpha val="18000"/>
              </a:srgbClr>
            </a:outerShdw>
          </a:effectLst>
        </p:spPr>
      </p:sp>
      <p:sp>
        <p:nvSpPr>
          <p:cNvPr id="21" name="Text 19"/>
          <p:cNvSpPr txBox="1"/>
          <p:nvPr/>
        </p:nvSpPr>
        <p:spPr>
          <a:xfrm>
            <a:off x="6995160" y="1874520"/>
            <a:ext cx="4297680" cy="274320"/>
          </a:xfrm>
          <a:prstGeom prst="rect">
            <a:avLst/>
          </a:prstGeom>
          <a:noFill/>
          <a:ln/>
        </p:spPr>
        <p:txBody>
          <a:bodyPr wrap="square" lIns="0" tIns="0" rIns="0" bIns="0" rtlCol="0" anchor="ctr"/>
          <a:lstStyle/>
          <a:p>
            <a:pPr indent="0" marL="0">
              <a:buNone/>
            </a:pPr>
            <a:r>
              <a:rPr lang="en-US" sz="1100" b="1" spc="100" kern="0" dirty="0">
                <a:solidFill>
                  <a:srgbClr val="6B7390"/>
                </a:solidFill>
                <a:latin typeface="Calibri" pitchFamily="34" charset="0"/>
                <a:ea typeface="Calibri" pitchFamily="34" charset="-122"/>
                <a:cs typeface="Calibri" pitchFamily="34" charset="-120"/>
              </a:rPr>
              <a:t>THE MANUFACTURING LOOP</a:t>
            </a:r>
            <a:endParaRPr lang="en-US" sz="1100" dirty="0"/>
          </a:p>
        </p:txBody>
      </p:sp>
      <p:sp>
        <p:nvSpPr>
          <p:cNvPr id="22" name="Shape 20"/>
          <p:cNvSpPr/>
          <p:nvPr/>
        </p:nvSpPr>
        <p:spPr>
          <a:xfrm>
            <a:off x="6995160" y="2331720"/>
            <a:ext cx="4297680" cy="713232"/>
          </a:xfrm>
          <a:prstGeom prst="roundRect">
            <a:avLst>
              <a:gd name="adj" fmla="val 50000"/>
            </a:avLst>
          </a:prstGeom>
          <a:solidFill>
            <a:srgbClr val="FFFFFF"/>
          </a:solidFill>
          <a:ln w="12700">
            <a:solidFill>
              <a:srgbClr val="D7DFF2"/>
            </a:solidFill>
            <a:prstDash val="solid"/>
          </a:ln>
        </p:spPr>
      </p:sp>
      <p:sp>
        <p:nvSpPr>
          <p:cNvPr id="23" name="Text 21"/>
          <p:cNvSpPr txBox="1"/>
          <p:nvPr/>
        </p:nvSpPr>
        <p:spPr>
          <a:xfrm>
            <a:off x="6995160" y="2331720"/>
            <a:ext cx="4297680" cy="713232"/>
          </a:xfrm>
          <a:prstGeom prst="rect">
            <a:avLst/>
          </a:prstGeom>
          <a:noFill/>
          <a:ln/>
        </p:spPr>
        <p:txBody>
          <a:bodyPr wrap="square" lIns="0" tIns="0" rIns="0" bIns="0" rtlCol="0" anchor="ctr"/>
          <a:lstStyle/>
          <a:p>
            <a:pPr algn="ctr" indent="0" marL="0">
              <a:buNone/>
            </a:pPr>
            <a:endParaRPr lang="en-US" sz="1100" dirty="0"/>
          </a:p>
        </p:txBody>
      </p:sp>
      <p:sp>
        <p:nvSpPr>
          <p:cNvPr id="24" name="Shape 22"/>
          <p:cNvSpPr/>
          <p:nvPr/>
        </p:nvSpPr>
        <p:spPr>
          <a:xfrm>
            <a:off x="7178040" y="2496312"/>
            <a:ext cx="384048" cy="384048"/>
          </a:xfrm>
          <a:prstGeom prst="ellipse">
            <a:avLst/>
          </a:prstGeom>
          <a:solidFill>
            <a:srgbClr val="1E2761"/>
          </a:solidFill>
          <a:ln/>
        </p:spPr>
      </p:sp>
      <p:sp>
        <p:nvSpPr>
          <p:cNvPr id="25" name="Text 23"/>
          <p:cNvSpPr txBox="1"/>
          <p:nvPr/>
        </p:nvSpPr>
        <p:spPr>
          <a:xfrm>
            <a:off x="7178040" y="2496312"/>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1</a:t>
            </a:r>
            <a:endParaRPr lang="en-US" sz="1386" dirty="0"/>
          </a:p>
        </p:txBody>
      </p:sp>
      <p:sp>
        <p:nvSpPr>
          <p:cNvPr id="26" name="Text 24"/>
          <p:cNvSpPr txBox="1"/>
          <p:nvPr/>
        </p:nvSpPr>
        <p:spPr>
          <a:xfrm>
            <a:off x="7726680" y="2404872"/>
            <a:ext cx="3383280" cy="274320"/>
          </a:xfrm>
          <a:prstGeom prst="rect">
            <a:avLst/>
          </a:prstGeom>
          <a:noFill/>
          <a:ln/>
        </p:spPr>
        <p:txBody>
          <a:bodyPr wrap="square" lIns="0" tIns="0" rIns="0" bIns="0" rtlCol="0" anchor="ctr"/>
          <a:lstStyle/>
          <a:p>
            <a:pPr indent="0" marL="0">
              <a:buNone/>
            </a:pPr>
            <a:r>
              <a:rPr lang="en-US" sz="1300" b="1" dirty="0">
                <a:solidFill>
                  <a:srgbClr val="24273A"/>
                </a:solidFill>
                <a:latin typeface="Calibri" pitchFamily="34" charset="0"/>
                <a:ea typeface="Calibri" pitchFamily="34" charset="-122"/>
                <a:cs typeface="Calibri" pitchFamily="34" charset="-120"/>
              </a:rPr>
              <a:t>Business Owner</a:t>
            </a:r>
            <a:endParaRPr lang="en-US" sz="1300" dirty="0"/>
          </a:p>
        </p:txBody>
      </p:sp>
      <p:sp>
        <p:nvSpPr>
          <p:cNvPr id="27" name="Text 25"/>
          <p:cNvSpPr txBox="1"/>
          <p:nvPr/>
        </p:nvSpPr>
        <p:spPr>
          <a:xfrm>
            <a:off x="7726680" y="2679192"/>
            <a:ext cx="3383280" cy="274320"/>
          </a:xfrm>
          <a:prstGeom prst="rect">
            <a:avLst/>
          </a:prstGeom>
          <a:noFill/>
          <a:ln/>
        </p:spPr>
        <p:txBody>
          <a:bodyPr wrap="square" lIns="0" tIns="0" rIns="0" bIns="0" rtlCol="0" anchor="ctr"/>
          <a:lstStyle/>
          <a:p>
            <a:pPr indent="0" marL="0">
              <a:buNone/>
            </a:pPr>
            <a:r>
              <a:rPr lang="en-US" sz="1100" dirty="0">
                <a:solidFill>
                  <a:srgbClr val="6B7390"/>
                </a:solidFill>
                <a:latin typeface="Calibri" pitchFamily="34" charset="0"/>
                <a:ea typeface="Calibri" pitchFamily="34" charset="-122"/>
                <a:cs typeface="Calibri" pitchFamily="34" charset="-120"/>
              </a:rPr>
              <a:t>approves the spend</a:t>
            </a:r>
            <a:endParaRPr lang="en-US" sz="1100" dirty="0"/>
          </a:p>
        </p:txBody>
      </p:sp>
      <p:sp>
        <p:nvSpPr>
          <p:cNvPr id="28" name="Text 26"/>
          <p:cNvSpPr txBox="1"/>
          <p:nvPr/>
        </p:nvSpPr>
        <p:spPr>
          <a:xfrm>
            <a:off x="6995160" y="3044952"/>
            <a:ext cx="4297680" cy="256032"/>
          </a:xfrm>
          <a:prstGeom prst="rect">
            <a:avLst/>
          </a:prstGeom>
          <a:noFill/>
          <a:ln/>
        </p:spPr>
        <p:txBody>
          <a:bodyPr wrap="square" lIns="0" tIns="0" rIns="0" bIns="0" rtlCol="0" anchor="ctr"/>
          <a:lstStyle/>
          <a:p>
            <a:pPr algn="ctr" indent="0" marL="0">
              <a:buNone/>
            </a:pPr>
            <a:r>
              <a:rPr lang="en-US" sz="1400" dirty="0">
                <a:solidFill>
                  <a:srgbClr val="1E2761"/>
                </a:solidFill>
                <a:latin typeface="Calibri" pitchFamily="34" charset="0"/>
                <a:ea typeface="Calibri" pitchFamily="34" charset="-122"/>
                <a:cs typeface="Calibri" pitchFamily="34" charset="-120"/>
              </a:rPr>
              <a:t>↓</a:t>
            </a:r>
            <a:endParaRPr lang="en-US" sz="1400" dirty="0"/>
          </a:p>
        </p:txBody>
      </p:sp>
      <p:sp>
        <p:nvSpPr>
          <p:cNvPr id="29" name="Shape 27"/>
          <p:cNvSpPr/>
          <p:nvPr/>
        </p:nvSpPr>
        <p:spPr>
          <a:xfrm>
            <a:off x="6995160" y="3300984"/>
            <a:ext cx="4297680" cy="713232"/>
          </a:xfrm>
          <a:prstGeom prst="roundRect">
            <a:avLst>
              <a:gd name="adj" fmla="val 50000"/>
            </a:avLst>
          </a:prstGeom>
          <a:solidFill>
            <a:srgbClr val="FFFFFF"/>
          </a:solidFill>
          <a:ln w="12700">
            <a:solidFill>
              <a:srgbClr val="D7DFF2"/>
            </a:solidFill>
            <a:prstDash val="solid"/>
          </a:ln>
        </p:spPr>
      </p:sp>
      <p:sp>
        <p:nvSpPr>
          <p:cNvPr id="30" name="Text 28"/>
          <p:cNvSpPr txBox="1"/>
          <p:nvPr/>
        </p:nvSpPr>
        <p:spPr>
          <a:xfrm>
            <a:off x="6995160" y="3300984"/>
            <a:ext cx="4297680" cy="713232"/>
          </a:xfrm>
          <a:prstGeom prst="rect">
            <a:avLst/>
          </a:prstGeom>
          <a:noFill/>
          <a:ln/>
        </p:spPr>
        <p:txBody>
          <a:bodyPr wrap="square" lIns="0" tIns="0" rIns="0" bIns="0" rtlCol="0" anchor="ctr"/>
          <a:lstStyle/>
          <a:p>
            <a:pPr algn="ctr" indent="0" marL="0">
              <a:buNone/>
            </a:pPr>
            <a:endParaRPr lang="en-US" sz="1100" dirty="0"/>
          </a:p>
        </p:txBody>
      </p:sp>
      <p:sp>
        <p:nvSpPr>
          <p:cNvPr id="31" name="Shape 29"/>
          <p:cNvSpPr/>
          <p:nvPr/>
        </p:nvSpPr>
        <p:spPr>
          <a:xfrm>
            <a:off x="7178040" y="3465576"/>
            <a:ext cx="384048" cy="384048"/>
          </a:xfrm>
          <a:prstGeom prst="ellipse">
            <a:avLst/>
          </a:prstGeom>
          <a:solidFill>
            <a:srgbClr val="1E2761"/>
          </a:solidFill>
          <a:ln/>
        </p:spPr>
      </p:sp>
      <p:sp>
        <p:nvSpPr>
          <p:cNvPr id="32" name="Text 30"/>
          <p:cNvSpPr txBox="1"/>
          <p:nvPr/>
        </p:nvSpPr>
        <p:spPr>
          <a:xfrm>
            <a:off x="7178040" y="3465576"/>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2</a:t>
            </a:r>
            <a:endParaRPr lang="en-US" sz="1386" dirty="0"/>
          </a:p>
        </p:txBody>
      </p:sp>
      <p:sp>
        <p:nvSpPr>
          <p:cNvPr id="33" name="Text 31"/>
          <p:cNvSpPr txBox="1"/>
          <p:nvPr/>
        </p:nvSpPr>
        <p:spPr>
          <a:xfrm>
            <a:off x="7726680" y="3374136"/>
            <a:ext cx="3383280" cy="274320"/>
          </a:xfrm>
          <a:prstGeom prst="rect">
            <a:avLst/>
          </a:prstGeom>
          <a:noFill/>
          <a:ln/>
        </p:spPr>
        <p:txBody>
          <a:bodyPr wrap="square" lIns="0" tIns="0" rIns="0" bIns="0" rtlCol="0" anchor="ctr"/>
          <a:lstStyle/>
          <a:p>
            <a:pPr indent="0" marL="0">
              <a:buNone/>
            </a:pPr>
            <a:r>
              <a:rPr lang="en-US" sz="1300" b="1" dirty="0">
                <a:solidFill>
                  <a:srgbClr val="24273A"/>
                </a:solidFill>
                <a:latin typeface="Calibri" pitchFamily="34" charset="0"/>
                <a:ea typeface="Calibri" pitchFamily="34" charset="-122"/>
                <a:cs typeface="Calibri" pitchFamily="34" charset="-120"/>
              </a:rPr>
              <a:t>Procurement Owner</a:t>
            </a:r>
            <a:endParaRPr lang="en-US" sz="1300" dirty="0"/>
          </a:p>
        </p:txBody>
      </p:sp>
      <p:sp>
        <p:nvSpPr>
          <p:cNvPr id="34" name="Text 32"/>
          <p:cNvSpPr txBox="1"/>
          <p:nvPr/>
        </p:nvSpPr>
        <p:spPr>
          <a:xfrm>
            <a:off x="7726680" y="3648456"/>
            <a:ext cx="3383280" cy="274320"/>
          </a:xfrm>
          <a:prstGeom prst="rect">
            <a:avLst/>
          </a:prstGeom>
          <a:noFill/>
          <a:ln/>
        </p:spPr>
        <p:txBody>
          <a:bodyPr wrap="square" lIns="0" tIns="0" rIns="0" bIns="0" rtlCol="0" anchor="ctr"/>
          <a:lstStyle/>
          <a:p>
            <a:pPr indent="0" marL="0">
              <a:buNone/>
            </a:pPr>
            <a:r>
              <a:rPr lang="en-US" sz="1100" dirty="0">
                <a:solidFill>
                  <a:srgbClr val="6B7390"/>
                </a:solidFill>
                <a:latin typeface="Calibri" pitchFamily="34" charset="0"/>
                <a:ea typeface="Calibri" pitchFamily="34" charset="-122"/>
                <a:cs typeface="Calibri" pitchFamily="34" charset="-120"/>
              </a:rPr>
              <a:t>creates the purchase order</a:t>
            </a:r>
            <a:endParaRPr lang="en-US" sz="1100" dirty="0"/>
          </a:p>
        </p:txBody>
      </p:sp>
      <p:sp>
        <p:nvSpPr>
          <p:cNvPr id="35" name="Text 33"/>
          <p:cNvSpPr txBox="1"/>
          <p:nvPr/>
        </p:nvSpPr>
        <p:spPr>
          <a:xfrm>
            <a:off x="6995160" y="4014216"/>
            <a:ext cx="4297680" cy="256032"/>
          </a:xfrm>
          <a:prstGeom prst="rect">
            <a:avLst/>
          </a:prstGeom>
          <a:noFill/>
          <a:ln/>
        </p:spPr>
        <p:txBody>
          <a:bodyPr wrap="square" lIns="0" tIns="0" rIns="0" bIns="0" rtlCol="0" anchor="ctr"/>
          <a:lstStyle/>
          <a:p>
            <a:pPr algn="ctr" indent="0" marL="0">
              <a:buNone/>
            </a:pPr>
            <a:r>
              <a:rPr lang="en-US" sz="1400" dirty="0">
                <a:solidFill>
                  <a:srgbClr val="1E2761"/>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6995160" y="4270248"/>
            <a:ext cx="4297680" cy="713232"/>
          </a:xfrm>
          <a:prstGeom prst="roundRect">
            <a:avLst>
              <a:gd name="adj" fmla="val 50000"/>
            </a:avLst>
          </a:prstGeom>
          <a:solidFill>
            <a:srgbClr val="FFFFFF"/>
          </a:solidFill>
          <a:ln w="12700">
            <a:solidFill>
              <a:srgbClr val="D7DFF2"/>
            </a:solidFill>
            <a:prstDash val="solid"/>
          </a:ln>
        </p:spPr>
      </p:sp>
      <p:sp>
        <p:nvSpPr>
          <p:cNvPr id="37" name="Text 35"/>
          <p:cNvSpPr txBox="1"/>
          <p:nvPr/>
        </p:nvSpPr>
        <p:spPr>
          <a:xfrm>
            <a:off x="6995160" y="4270248"/>
            <a:ext cx="4297680" cy="713232"/>
          </a:xfrm>
          <a:prstGeom prst="rect">
            <a:avLst/>
          </a:prstGeom>
          <a:noFill/>
          <a:ln/>
        </p:spPr>
        <p:txBody>
          <a:bodyPr wrap="square" lIns="0" tIns="0" rIns="0" bIns="0" rtlCol="0" anchor="ctr"/>
          <a:lstStyle/>
          <a:p>
            <a:pPr algn="ctr" indent="0" marL="0">
              <a:buNone/>
            </a:pPr>
            <a:endParaRPr lang="en-US" sz="1100" dirty="0"/>
          </a:p>
        </p:txBody>
      </p:sp>
      <p:sp>
        <p:nvSpPr>
          <p:cNvPr id="38" name="Shape 36"/>
          <p:cNvSpPr/>
          <p:nvPr/>
        </p:nvSpPr>
        <p:spPr>
          <a:xfrm>
            <a:off x="7178040" y="4434840"/>
            <a:ext cx="384048" cy="384048"/>
          </a:xfrm>
          <a:prstGeom prst="ellipse">
            <a:avLst/>
          </a:prstGeom>
          <a:solidFill>
            <a:srgbClr val="1E2761"/>
          </a:solidFill>
          <a:ln/>
        </p:spPr>
      </p:sp>
      <p:sp>
        <p:nvSpPr>
          <p:cNvPr id="39" name="Text 37"/>
          <p:cNvSpPr txBox="1"/>
          <p:nvPr/>
        </p:nvSpPr>
        <p:spPr>
          <a:xfrm>
            <a:off x="7178040" y="4434840"/>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3</a:t>
            </a:r>
            <a:endParaRPr lang="en-US" sz="1386" dirty="0"/>
          </a:p>
        </p:txBody>
      </p:sp>
      <p:sp>
        <p:nvSpPr>
          <p:cNvPr id="40" name="Text 38"/>
          <p:cNvSpPr txBox="1"/>
          <p:nvPr/>
        </p:nvSpPr>
        <p:spPr>
          <a:xfrm>
            <a:off x="7726680" y="4343400"/>
            <a:ext cx="3383280" cy="274320"/>
          </a:xfrm>
          <a:prstGeom prst="rect">
            <a:avLst/>
          </a:prstGeom>
          <a:noFill/>
          <a:ln/>
        </p:spPr>
        <p:txBody>
          <a:bodyPr wrap="square" lIns="0" tIns="0" rIns="0" bIns="0" rtlCol="0" anchor="ctr"/>
          <a:lstStyle/>
          <a:p>
            <a:pPr indent="0" marL="0">
              <a:buNone/>
            </a:pPr>
            <a:r>
              <a:rPr lang="en-US" sz="1300" b="1" dirty="0">
                <a:solidFill>
                  <a:srgbClr val="24273A"/>
                </a:solidFill>
                <a:latin typeface="Calibri" pitchFamily="34" charset="0"/>
                <a:ea typeface="Calibri" pitchFamily="34" charset="-122"/>
                <a:cs typeface="Calibri" pitchFamily="34" charset="-120"/>
              </a:rPr>
              <a:t>Vendor</a:t>
            </a:r>
            <a:endParaRPr lang="en-US" sz="1300" dirty="0"/>
          </a:p>
        </p:txBody>
      </p:sp>
      <p:sp>
        <p:nvSpPr>
          <p:cNvPr id="41" name="Text 39"/>
          <p:cNvSpPr txBox="1"/>
          <p:nvPr/>
        </p:nvSpPr>
        <p:spPr>
          <a:xfrm>
            <a:off x="7726680" y="4617720"/>
            <a:ext cx="3383280" cy="274320"/>
          </a:xfrm>
          <a:prstGeom prst="rect">
            <a:avLst/>
          </a:prstGeom>
          <a:noFill/>
          <a:ln/>
        </p:spPr>
        <p:txBody>
          <a:bodyPr wrap="square" lIns="0" tIns="0" rIns="0" bIns="0" rtlCol="0" anchor="ctr"/>
          <a:lstStyle/>
          <a:p>
            <a:pPr indent="0" marL="0">
              <a:buNone/>
            </a:pPr>
            <a:r>
              <a:rPr lang="en-US" sz="1100" dirty="0">
                <a:solidFill>
                  <a:srgbClr val="6B7390"/>
                </a:solidFill>
                <a:latin typeface="Calibri" pitchFamily="34" charset="0"/>
                <a:ea typeface="Calibri" pitchFamily="34" charset="-122"/>
                <a:cs typeface="Calibri" pitchFamily="34" charset="-120"/>
              </a:rPr>
              <a:t>delivers the goods</a:t>
            </a:r>
            <a:endParaRPr lang="en-US" sz="1100" dirty="0"/>
          </a:p>
        </p:txBody>
      </p:sp>
      <p:sp>
        <p:nvSpPr>
          <p:cNvPr id="42" name="Text 40"/>
          <p:cNvSpPr txBox="1"/>
          <p:nvPr/>
        </p:nvSpPr>
        <p:spPr>
          <a:xfrm>
            <a:off x="6995160" y="4983480"/>
            <a:ext cx="4297680" cy="256032"/>
          </a:xfrm>
          <a:prstGeom prst="rect">
            <a:avLst/>
          </a:prstGeom>
          <a:noFill/>
          <a:ln/>
        </p:spPr>
        <p:txBody>
          <a:bodyPr wrap="square" lIns="0" tIns="0" rIns="0" bIns="0" rtlCol="0" anchor="ctr"/>
          <a:lstStyle/>
          <a:p>
            <a:pPr algn="ctr" indent="0" marL="0">
              <a:buNone/>
            </a:pPr>
            <a:r>
              <a:rPr lang="en-US" sz="1400" dirty="0">
                <a:solidFill>
                  <a:srgbClr val="1E2761"/>
                </a:solidFill>
                <a:latin typeface="Calibri" pitchFamily="34" charset="0"/>
                <a:ea typeface="Calibri" pitchFamily="34" charset="-122"/>
                <a:cs typeface="Calibri" pitchFamily="34" charset="-120"/>
              </a:rPr>
              <a:t>↓</a:t>
            </a:r>
            <a:endParaRPr lang="en-US" sz="1400" dirty="0"/>
          </a:p>
        </p:txBody>
      </p:sp>
      <p:sp>
        <p:nvSpPr>
          <p:cNvPr id="43" name="Shape 41"/>
          <p:cNvSpPr/>
          <p:nvPr/>
        </p:nvSpPr>
        <p:spPr>
          <a:xfrm>
            <a:off x="6995160" y="5239512"/>
            <a:ext cx="4297680" cy="713232"/>
          </a:xfrm>
          <a:prstGeom prst="roundRect">
            <a:avLst>
              <a:gd name="adj" fmla="val 50000"/>
            </a:avLst>
          </a:prstGeom>
          <a:solidFill>
            <a:srgbClr val="FFFFFF"/>
          </a:solidFill>
          <a:ln w="12700">
            <a:solidFill>
              <a:srgbClr val="D7DFF2"/>
            </a:solidFill>
            <a:prstDash val="solid"/>
          </a:ln>
        </p:spPr>
      </p:sp>
      <p:sp>
        <p:nvSpPr>
          <p:cNvPr id="44" name="Text 42"/>
          <p:cNvSpPr txBox="1"/>
          <p:nvPr/>
        </p:nvSpPr>
        <p:spPr>
          <a:xfrm>
            <a:off x="6995160" y="5239512"/>
            <a:ext cx="4297680" cy="713232"/>
          </a:xfrm>
          <a:prstGeom prst="rect">
            <a:avLst/>
          </a:prstGeom>
          <a:noFill/>
          <a:ln/>
        </p:spPr>
        <p:txBody>
          <a:bodyPr wrap="square" lIns="0" tIns="0" rIns="0" bIns="0" rtlCol="0" anchor="ctr"/>
          <a:lstStyle/>
          <a:p>
            <a:pPr algn="ctr" indent="0" marL="0">
              <a:buNone/>
            </a:pPr>
            <a:endParaRPr lang="en-US" sz="1100" dirty="0"/>
          </a:p>
        </p:txBody>
      </p:sp>
      <p:sp>
        <p:nvSpPr>
          <p:cNvPr id="45" name="Shape 43"/>
          <p:cNvSpPr/>
          <p:nvPr/>
        </p:nvSpPr>
        <p:spPr>
          <a:xfrm>
            <a:off x="7178040" y="5404104"/>
            <a:ext cx="384048" cy="384048"/>
          </a:xfrm>
          <a:prstGeom prst="ellipse">
            <a:avLst/>
          </a:prstGeom>
          <a:solidFill>
            <a:srgbClr val="F2A93C"/>
          </a:solidFill>
          <a:ln/>
        </p:spPr>
      </p:sp>
      <p:sp>
        <p:nvSpPr>
          <p:cNvPr id="46" name="Text 44"/>
          <p:cNvSpPr txBox="1"/>
          <p:nvPr/>
        </p:nvSpPr>
        <p:spPr>
          <a:xfrm>
            <a:off x="7178040" y="5404104"/>
            <a:ext cx="384048" cy="384048"/>
          </a:xfrm>
          <a:prstGeom prst="rect">
            <a:avLst/>
          </a:prstGeom>
          <a:noFill/>
          <a:ln/>
        </p:spPr>
        <p:txBody>
          <a:bodyPr wrap="square" lIns="0" tIns="0" rIns="0" bIns="0" rtlCol="0" anchor="ctr"/>
          <a:lstStyle/>
          <a:p>
            <a:pPr algn="ctr" indent="0" marL="0">
              <a:buNone/>
            </a:pPr>
            <a:r>
              <a:rPr lang="en-US" sz="1386" b="1" dirty="0">
                <a:solidFill>
                  <a:srgbClr val="1E2761"/>
                </a:solidFill>
                <a:latin typeface="Cambria" pitchFamily="34" charset="0"/>
                <a:ea typeface="Cambria" pitchFamily="34" charset="-122"/>
                <a:cs typeface="Cambria" pitchFamily="34" charset="-120"/>
              </a:rPr>
              <a:t>4</a:t>
            </a:r>
            <a:endParaRPr lang="en-US" sz="1386" dirty="0"/>
          </a:p>
        </p:txBody>
      </p:sp>
      <p:sp>
        <p:nvSpPr>
          <p:cNvPr id="47" name="Text 45"/>
          <p:cNvSpPr txBox="1"/>
          <p:nvPr/>
        </p:nvSpPr>
        <p:spPr>
          <a:xfrm>
            <a:off x="7726680" y="5312664"/>
            <a:ext cx="3383280" cy="274320"/>
          </a:xfrm>
          <a:prstGeom prst="rect">
            <a:avLst/>
          </a:prstGeom>
          <a:noFill/>
          <a:ln/>
        </p:spPr>
        <p:txBody>
          <a:bodyPr wrap="square" lIns="0" tIns="0" rIns="0" bIns="0" rtlCol="0" anchor="ctr"/>
          <a:lstStyle/>
          <a:p>
            <a:pPr indent="0" marL="0">
              <a:buNone/>
            </a:pPr>
            <a:r>
              <a:rPr lang="en-US" sz="1300" b="1" dirty="0">
                <a:solidFill>
                  <a:srgbClr val="24273A"/>
                </a:solidFill>
                <a:latin typeface="Calibri" pitchFamily="34" charset="0"/>
                <a:ea typeface="Calibri" pitchFamily="34" charset="-122"/>
                <a:cs typeface="Calibri" pitchFamily="34" charset="-120"/>
              </a:rPr>
              <a:t>Inventory Owner</a:t>
            </a:r>
            <a:endParaRPr lang="en-US" sz="1300" dirty="0"/>
          </a:p>
        </p:txBody>
      </p:sp>
      <p:sp>
        <p:nvSpPr>
          <p:cNvPr id="48" name="Text 46"/>
          <p:cNvSpPr txBox="1"/>
          <p:nvPr/>
        </p:nvSpPr>
        <p:spPr>
          <a:xfrm>
            <a:off x="7726680" y="5586984"/>
            <a:ext cx="3383280" cy="274320"/>
          </a:xfrm>
          <a:prstGeom prst="rect">
            <a:avLst/>
          </a:prstGeom>
          <a:noFill/>
          <a:ln/>
        </p:spPr>
        <p:txBody>
          <a:bodyPr wrap="square" lIns="0" tIns="0" rIns="0" bIns="0" rtlCol="0" anchor="ctr"/>
          <a:lstStyle/>
          <a:p>
            <a:pPr indent="0" marL="0">
              <a:buNone/>
            </a:pPr>
            <a:r>
              <a:rPr lang="en-US" sz="1100" dirty="0">
                <a:solidFill>
                  <a:srgbClr val="6B7390"/>
                </a:solidFill>
                <a:latin typeface="Calibri" pitchFamily="34" charset="0"/>
                <a:ea typeface="Calibri" pitchFamily="34" charset="-122"/>
                <a:cs typeface="Calibri" pitchFamily="34" charset="-120"/>
              </a:rPr>
              <a:t>receives &amp; holds stock</a:t>
            </a:r>
            <a:endParaRPr lang="en-US" sz="1100" dirty="0"/>
          </a:p>
        </p:txBody>
      </p:sp>
      <p:sp>
        <p:nvSpPr>
          <p:cNvPr id="49" name="Text 47"/>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39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50" name="Text 48"/>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39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A93C"/>
                </a:solidFill>
                <a:latin typeface="Calibri" pitchFamily="34" charset="0"/>
                <a:ea typeface="Calibri" pitchFamily="34" charset="-122"/>
                <a:cs typeface="Calibri" pitchFamily="34" charset="-120"/>
              </a:rPr>
              <a:t>THE RESULT</a:t>
            </a:r>
            <a:endParaRPr lang="en-US" sz="1200" dirty="0"/>
          </a:p>
        </p:txBody>
      </p:sp>
      <p:sp>
        <p:nvSpPr>
          <p:cNvPr id="3" name="Text 1"/>
          <p:cNvSpPr txBox="1"/>
          <p:nvPr/>
        </p:nvSpPr>
        <p:spPr>
          <a:xfrm>
            <a:off x="640080" y="749808"/>
            <a:ext cx="1051560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got built</a:t>
            </a:r>
            <a:endParaRPr lang="en-US" sz="3200" dirty="0"/>
          </a:p>
        </p:txBody>
      </p:sp>
      <p:sp>
        <p:nvSpPr>
          <p:cNvPr id="4" name="Text 2"/>
          <p:cNvSpPr txBox="1"/>
          <p:nvPr/>
        </p:nvSpPr>
        <p:spPr>
          <a:xfrm>
            <a:off x="640080" y="1600200"/>
            <a:ext cx="5394960" cy="960120"/>
          </a:xfrm>
          <a:prstGeom prst="rect">
            <a:avLst/>
          </a:prstGeom>
          <a:noFill/>
          <a:ln/>
        </p:spPr>
        <p:txBody>
          <a:bodyPr wrap="square" lIns="0" tIns="0" rIns="0" bIns="0" rtlCol="0" anchor="ctr"/>
          <a:lstStyle/>
          <a:p>
            <a:pPr indent="0" marL="0">
              <a:lnSpc>
                <a:spcPct val="125000"/>
              </a:lnSpc>
              <a:buNone/>
            </a:pPr>
            <a:r>
              <a:rPr lang="en-US" sz="1300" dirty="0">
                <a:solidFill>
                  <a:srgbClr val="24273A"/>
                </a:solidFill>
                <a:latin typeface="Calibri" pitchFamily="34" charset="0"/>
                <a:ea typeface="Calibri" pitchFamily="34" charset="-122"/>
                <a:cs typeface="Calibri" pitchFamily="34" charset="-120"/>
              </a:rPr>
              <a:t>A single-page chat app. Pick a role, ask a question in plain English, get a short answer — with a chart when it helps, the SQL and raw rows one click away, and a confirm step before anything is written.</a:t>
            </a:r>
            <a:endParaRPr lang="en-US" sz="1300" dirty="0"/>
          </a:p>
        </p:txBody>
      </p:sp>
      <p:sp>
        <p:nvSpPr>
          <p:cNvPr id="5" name="Shape 3"/>
          <p:cNvSpPr/>
          <p:nvPr/>
        </p:nvSpPr>
        <p:spPr>
          <a:xfrm>
            <a:off x="640080" y="2743200"/>
            <a:ext cx="1234440" cy="1234440"/>
          </a:xfrm>
          <a:prstGeom prst="roundRect">
            <a:avLst>
              <a:gd name="adj" fmla="val 5926"/>
            </a:avLst>
          </a:prstGeom>
          <a:solidFill>
            <a:srgbClr val="EEF3FC"/>
          </a:solidFill>
          <a:ln/>
          <a:effectLst>
            <a:outerShdw sx="100000" sy="100000" kx="0" ky="0" algn="bl" rotWithShape="0" blurRad="76200" dist="25400" dir="5400000">
              <a:srgbClr val="8B93B8">
                <a:alpha val="18000"/>
              </a:srgbClr>
            </a:outerShdw>
          </a:effectLst>
        </p:spPr>
      </p:sp>
      <p:sp>
        <p:nvSpPr>
          <p:cNvPr id="6" name="Text 4"/>
          <p:cNvSpPr txBox="1"/>
          <p:nvPr/>
        </p:nvSpPr>
        <p:spPr>
          <a:xfrm>
            <a:off x="640080" y="2852928"/>
            <a:ext cx="1234440" cy="640080"/>
          </a:xfrm>
          <a:prstGeom prst="rect">
            <a:avLst/>
          </a:prstGeom>
          <a:noFill/>
          <a:ln/>
        </p:spPr>
        <p:txBody>
          <a:bodyPr wrap="square" lIns="0" tIns="0" rIns="0" bIns="0"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3</a:t>
            </a:r>
            <a:endParaRPr lang="en-US" sz="2600" dirty="0"/>
          </a:p>
        </p:txBody>
      </p:sp>
      <p:sp>
        <p:nvSpPr>
          <p:cNvPr id="7" name="Text 5"/>
          <p:cNvSpPr txBox="1"/>
          <p:nvPr/>
        </p:nvSpPr>
        <p:spPr>
          <a:xfrm>
            <a:off x="685800" y="3474720"/>
            <a:ext cx="1143000" cy="457200"/>
          </a:xfrm>
          <a:prstGeom prst="rect">
            <a:avLst/>
          </a:prstGeom>
          <a:noFill/>
          <a:ln/>
        </p:spPr>
        <p:txBody>
          <a:bodyPr wrap="square" lIns="0" tIns="0" rIns="0" bIns="0" rtlCol="0" anchor="ctr"/>
          <a:lstStyle/>
          <a:p>
            <a:pPr algn="ctr" indent="0" marL="0">
              <a:lnSpc>
                <a:spcPct val="105000"/>
              </a:lnSpc>
              <a:buNone/>
            </a:pPr>
            <a:r>
              <a:rPr lang="en-US" sz="950" dirty="0">
                <a:solidFill>
                  <a:srgbClr val="6B7390"/>
                </a:solidFill>
                <a:latin typeface="Calibri" pitchFamily="34" charset="0"/>
                <a:ea typeface="Calibri" pitchFamily="34" charset="-122"/>
                <a:cs typeface="Calibri" pitchFamily="34" charset="-120"/>
              </a:rPr>
              <a:t>user roles</a:t>
            </a:r>
            <a:endParaRPr lang="en-US" sz="950" dirty="0"/>
          </a:p>
        </p:txBody>
      </p:sp>
      <p:sp>
        <p:nvSpPr>
          <p:cNvPr id="8" name="Shape 6"/>
          <p:cNvSpPr/>
          <p:nvPr/>
        </p:nvSpPr>
        <p:spPr>
          <a:xfrm>
            <a:off x="2029968" y="2743200"/>
            <a:ext cx="1234440" cy="1234440"/>
          </a:xfrm>
          <a:prstGeom prst="roundRect">
            <a:avLst>
              <a:gd name="adj" fmla="val 5926"/>
            </a:avLst>
          </a:prstGeom>
          <a:solidFill>
            <a:srgbClr val="EEF3FC"/>
          </a:solidFill>
          <a:ln/>
          <a:effectLst>
            <a:outerShdw sx="100000" sy="100000" kx="0" ky="0" algn="bl" rotWithShape="0" blurRad="76200" dist="25400" dir="5400000">
              <a:srgbClr val="8B93B8">
                <a:alpha val="18000"/>
              </a:srgbClr>
            </a:outerShdw>
          </a:effectLst>
        </p:spPr>
      </p:sp>
      <p:sp>
        <p:nvSpPr>
          <p:cNvPr id="9" name="Text 7"/>
          <p:cNvSpPr txBox="1"/>
          <p:nvPr/>
        </p:nvSpPr>
        <p:spPr>
          <a:xfrm>
            <a:off x="2029968" y="2852928"/>
            <a:ext cx="1234440" cy="640080"/>
          </a:xfrm>
          <a:prstGeom prst="rect">
            <a:avLst/>
          </a:prstGeom>
          <a:noFill/>
          <a:ln/>
        </p:spPr>
        <p:txBody>
          <a:bodyPr wrap="square" lIns="0" tIns="0" rIns="0" bIns="0"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20</a:t>
            </a:r>
            <a:endParaRPr lang="en-US" sz="2600" dirty="0"/>
          </a:p>
        </p:txBody>
      </p:sp>
      <p:sp>
        <p:nvSpPr>
          <p:cNvPr id="10" name="Text 8"/>
          <p:cNvSpPr txBox="1"/>
          <p:nvPr/>
        </p:nvSpPr>
        <p:spPr>
          <a:xfrm>
            <a:off x="2075688" y="3474720"/>
            <a:ext cx="1143000" cy="457200"/>
          </a:xfrm>
          <a:prstGeom prst="rect">
            <a:avLst/>
          </a:prstGeom>
          <a:noFill/>
          <a:ln/>
        </p:spPr>
        <p:txBody>
          <a:bodyPr wrap="square" lIns="0" tIns="0" rIns="0" bIns="0" rtlCol="0" anchor="ctr"/>
          <a:lstStyle/>
          <a:p>
            <a:pPr algn="ctr" indent="0" marL="0">
              <a:lnSpc>
                <a:spcPct val="105000"/>
              </a:lnSpc>
              <a:buNone/>
            </a:pPr>
            <a:r>
              <a:rPr lang="en-US" sz="950" dirty="0">
                <a:solidFill>
                  <a:srgbClr val="6B7390"/>
                </a:solidFill>
                <a:latin typeface="Calibri" pitchFamily="34" charset="0"/>
                <a:ea typeface="Calibri" pitchFamily="34" charset="-122"/>
                <a:cs typeface="Calibri" pitchFamily="34" charset="-120"/>
              </a:rPr>
              <a:t>tables wired in</a:t>
            </a:r>
            <a:endParaRPr lang="en-US" sz="950" dirty="0"/>
          </a:p>
        </p:txBody>
      </p:sp>
      <p:sp>
        <p:nvSpPr>
          <p:cNvPr id="11" name="Shape 9"/>
          <p:cNvSpPr/>
          <p:nvPr/>
        </p:nvSpPr>
        <p:spPr>
          <a:xfrm>
            <a:off x="3419856" y="2743200"/>
            <a:ext cx="1234440" cy="1234440"/>
          </a:xfrm>
          <a:prstGeom prst="roundRect">
            <a:avLst>
              <a:gd name="adj" fmla="val 5926"/>
            </a:avLst>
          </a:prstGeom>
          <a:solidFill>
            <a:srgbClr val="EEF3FC"/>
          </a:solidFill>
          <a:ln/>
          <a:effectLst>
            <a:outerShdw sx="100000" sy="100000" kx="0" ky="0" algn="bl" rotWithShape="0" blurRad="76200" dist="25400" dir="5400000">
              <a:srgbClr val="8B93B8">
                <a:alpha val="18000"/>
              </a:srgbClr>
            </a:outerShdw>
          </a:effectLst>
        </p:spPr>
      </p:sp>
      <p:sp>
        <p:nvSpPr>
          <p:cNvPr id="12" name="Text 10"/>
          <p:cNvSpPr txBox="1"/>
          <p:nvPr/>
        </p:nvSpPr>
        <p:spPr>
          <a:xfrm>
            <a:off x="3419856" y="2852928"/>
            <a:ext cx="1234440" cy="640080"/>
          </a:xfrm>
          <a:prstGeom prst="rect">
            <a:avLst/>
          </a:prstGeom>
          <a:noFill/>
          <a:ln/>
        </p:spPr>
        <p:txBody>
          <a:bodyPr wrap="square" lIns="0" tIns="0" rIns="0" bIns="0"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2</a:t>
            </a:r>
            <a:endParaRPr lang="en-US" sz="2600" dirty="0"/>
          </a:p>
        </p:txBody>
      </p:sp>
      <p:sp>
        <p:nvSpPr>
          <p:cNvPr id="13" name="Text 11"/>
          <p:cNvSpPr txBox="1"/>
          <p:nvPr/>
        </p:nvSpPr>
        <p:spPr>
          <a:xfrm>
            <a:off x="3465576" y="3474720"/>
            <a:ext cx="1143000" cy="457200"/>
          </a:xfrm>
          <a:prstGeom prst="rect">
            <a:avLst/>
          </a:prstGeom>
          <a:noFill/>
          <a:ln/>
        </p:spPr>
        <p:txBody>
          <a:bodyPr wrap="square" lIns="0" tIns="0" rIns="0" bIns="0" rtlCol="0" anchor="ctr"/>
          <a:lstStyle/>
          <a:p>
            <a:pPr algn="ctr" indent="0" marL="0">
              <a:lnSpc>
                <a:spcPct val="105000"/>
              </a:lnSpc>
              <a:buNone/>
            </a:pPr>
            <a:r>
              <a:rPr lang="en-US" sz="950" dirty="0">
                <a:solidFill>
                  <a:srgbClr val="6B7390"/>
                </a:solidFill>
                <a:latin typeface="Calibri" pitchFamily="34" charset="0"/>
                <a:ea typeface="Calibri" pitchFamily="34" charset="-122"/>
                <a:cs typeface="Calibri" pitchFamily="34" charset="-120"/>
              </a:rPr>
              <a:t>LLM calls / question</a:t>
            </a:r>
            <a:endParaRPr lang="en-US" sz="950" dirty="0"/>
          </a:p>
        </p:txBody>
      </p:sp>
      <p:sp>
        <p:nvSpPr>
          <p:cNvPr id="14" name="Shape 12"/>
          <p:cNvSpPr/>
          <p:nvPr/>
        </p:nvSpPr>
        <p:spPr>
          <a:xfrm>
            <a:off x="4809744" y="2743200"/>
            <a:ext cx="1234440" cy="1234440"/>
          </a:xfrm>
          <a:prstGeom prst="roundRect">
            <a:avLst>
              <a:gd name="adj" fmla="val 5926"/>
            </a:avLst>
          </a:prstGeom>
          <a:solidFill>
            <a:srgbClr val="EEF3FC"/>
          </a:solidFill>
          <a:ln/>
          <a:effectLst>
            <a:outerShdw sx="100000" sy="100000" kx="0" ky="0" algn="bl" rotWithShape="0" blurRad="76200" dist="25400" dir="5400000">
              <a:srgbClr val="8B93B8">
                <a:alpha val="18000"/>
              </a:srgbClr>
            </a:outerShdw>
          </a:effectLst>
        </p:spPr>
      </p:sp>
      <p:sp>
        <p:nvSpPr>
          <p:cNvPr id="15" name="Text 13"/>
          <p:cNvSpPr txBox="1"/>
          <p:nvPr/>
        </p:nvSpPr>
        <p:spPr>
          <a:xfrm>
            <a:off x="4809744" y="2852928"/>
            <a:ext cx="1234440" cy="640080"/>
          </a:xfrm>
          <a:prstGeom prst="rect">
            <a:avLst/>
          </a:prstGeom>
          <a:noFill/>
          <a:ln/>
        </p:spPr>
        <p:txBody>
          <a:bodyPr wrap="square" lIns="0" tIns="0" rIns="0" bIns="0"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12/12</a:t>
            </a:r>
            <a:endParaRPr lang="en-US" sz="2600" dirty="0"/>
          </a:p>
        </p:txBody>
      </p:sp>
      <p:sp>
        <p:nvSpPr>
          <p:cNvPr id="16" name="Text 14"/>
          <p:cNvSpPr txBox="1"/>
          <p:nvPr/>
        </p:nvSpPr>
        <p:spPr>
          <a:xfrm>
            <a:off x="4855464" y="3474720"/>
            <a:ext cx="1143000" cy="457200"/>
          </a:xfrm>
          <a:prstGeom prst="rect">
            <a:avLst/>
          </a:prstGeom>
          <a:noFill/>
          <a:ln/>
        </p:spPr>
        <p:txBody>
          <a:bodyPr wrap="square" lIns="0" tIns="0" rIns="0" bIns="0" rtlCol="0" anchor="ctr"/>
          <a:lstStyle/>
          <a:p>
            <a:pPr algn="ctr" indent="0" marL="0">
              <a:lnSpc>
                <a:spcPct val="105000"/>
              </a:lnSpc>
              <a:buNone/>
            </a:pPr>
            <a:r>
              <a:rPr lang="en-US" sz="950" dirty="0">
                <a:solidFill>
                  <a:srgbClr val="6B7390"/>
                </a:solidFill>
                <a:latin typeface="Calibri" pitchFamily="34" charset="0"/>
                <a:ea typeface="Calibri" pitchFamily="34" charset="-122"/>
                <a:cs typeface="Calibri" pitchFamily="34" charset="-120"/>
              </a:rPr>
              <a:t>safety tests pass</a:t>
            </a:r>
            <a:endParaRPr lang="en-US" sz="950" dirty="0"/>
          </a:p>
        </p:txBody>
      </p:sp>
      <p:sp>
        <p:nvSpPr>
          <p:cNvPr id="17" name="Text 15"/>
          <p:cNvSpPr txBox="1"/>
          <p:nvPr/>
        </p:nvSpPr>
        <p:spPr>
          <a:xfrm>
            <a:off x="640080" y="4343400"/>
            <a:ext cx="5394960" cy="457200"/>
          </a:xfrm>
          <a:prstGeom prst="rect">
            <a:avLst/>
          </a:prstGeom>
          <a:noFill/>
          <a:ln/>
        </p:spPr>
        <p:txBody>
          <a:bodyPr wrap="square" lIns="0" tIns="0" rIns="0" bIns="0" rtlCol="0" anchor="ctr"/>
          <a:lstStyle/>
          <a:p>
            <a:pPr indent="0" marL="0">
              <a:buNone/>
            </a:pPr>
            <a:r>
              <a:rPr lang="en-US" sz="1100" i="1" dirty="0">
                <a:solidFill>
                  <a:srgbClr val="6B7390"/>
                </a:solidFill>
                <a:latin typeface="Calibri" pitchFamily="34" charset="0"/>
                <a:ea typeface="Calibri" pitchFamily="34" charset="-122"/>
                <a:cs typeface="Calibri" pitchFamily="34" charset="-120"/>
              </a:rPr>
              <a:t>Runs today at localhost:3000 (frontend) talking to localhost:8000 (backend).</a:t>
            </a:r>
            <a:endParaRPr lang="en-US" sz="1100" dirty="0"/>
          </a:p>
        </p:txBody>
      </p:sp>
      <p:sp>
        <p:nvSpPr>
          <p:cNvPr id="18" name="Shape 16"/>
          <p:cNvSpPr/>
          <p:nvPr/>
        </p:nvSpPr>
        <p:spPr>
          <a:xfrm>
            <a:off x="6400800" y="1600200"/>
            <a:ext cx="5166360" cy="4800600"/>
          </a:xfrm>
          <a:prstGeom prst="roundRect">
            <a:avLst>
              <a:gd name="adj" fmla="val 1524"/>
            </a:avLst>
          </a:prstGeom>
          <a:solidFill>
            <a:srgbClr val="1E2761"/>
          </a:solidFill>
          <a:ln/>
          <a:effectLst>
            <a:outerShdw sx="100000" sy="100000" kx="0" ky="0" algn="bl" rotWithShape="0" blurRad="76200" dist="25400" dir="5400000">
              <a:srgbClr val="8B93B8">
                <a:alpha val="18000"/>
              </a:srgbClr>
            </a:outerShdw>
          </a:effectLst>
        </p:spPr>
      </p:sp>
      <p:sp>
        <p:nvSpPr>
          <p:cNvPr id="19" name="Shape 17"/>
          <p:cNvSpPr/>
          <p:nvPr/>
        </p:nvSpPr>
        <p:spPr>
          <a:xfrm>
            <a:off x="6629400" y="1828800"/>
            <a:ext cx="4709160" cy="502920"/>
          </a:xfrm>
          <a:prstGeom prst="roundRect">
            <a:avLst>
              <a:gd name="adj" fmla="val 10909"/>
            </a:avLst>
          </a:prstGeom>
          <a:solidFill>
            <a:srgbClr val="141A47"/>
          </a:solidFill>
          <a:ln/>
        </p:spPr>
      </p:sp>
      <p:sp>
        <p:nvSpPr>
          <p:cNvPr id="20" name="Text 18"/>
          <p:cNvSpPr txBox="1"/>
          <p:nvPr/>
        </p:nvSpPr>
        <p:spPr>
          <a:xfrm>
            <a:off x="6766560" y="1828800"/>
            <a:ext cx="301752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Inventory &amp; Procurement Assistant</a:t>
            </a:r>
            <a:endParaRPr lang="en-US" sz="1200" dirty="0"/>
          </a:p>
        </p:txBody>
      </p:sp>
      <p:sp>
        <p:nvSpPr>
          <p:cNvPr id="21" name="Shape 19"/>
          <p:cNvSpPr/>
          <p:nvPr/>
        </p:nvSpPr>
        <p:spPr>
          <a:xfrm>
            <a:off x="9189720" y="1920240"/>
            <a:ext cx="2011680" cy="329184"/>
          </a:xfrm>
          <a:prstGeom prst="roundRect">
            <a:avLst>
              <a:gd name="adj" fmla="val 50000"/>
            </a:avLst>
          </a:prstGeom>
          <a:solidFill>
            <a:srgbClr val="2A3372"/>
          </a:solidFill>
          <a:ln/>
        </p:spPr>
      </p:sp>
      <p:sp>
        <p:nvSpPr>
          <p:cNvPr id="22" name="Text 20"/>
          <p:cNvSpPr txBox="1"/>
          <p:nvPr/>
        </p:nvSpPr>
        <p:spPr>
          <a:xfrm>
            <a:off x="9189720" y="1920240"/>
            <a:ext cx="2011680" cy="329184"/>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I am the: Business Owner ▾</a:t>
            </a:r>
            <a:endParaRPr lang="en-US" sz="950" dirty="0"/>
          </a:p>
        </p:txBody>
      </p:sp>
      <p:sp>
        <p:nvSpPr>
          <p:cNvPr id="23" name="Shape 21"/>
          <p:cNvSpPr/>
          <p:nvPr/>
        </p:nvSpPr>
        <p:spPr>
          <a:xfrm>
            <a:off x="6629400" y="2487168"/>
            <a:ext cx="4709160" cy="566928"/>
          </a:xfrm>
          <a:prstGeom prst="roundRect">
            <a:avLst>
              <a:gd name="adj" fmla="val 12903"/>
            </a:avLst>
          </a:prstGeom>
          <a:solidFill>
            <a:srgbClr val="FFFFFF"/>
          </a:solidFill>
          <a:ln w="12700">
            <a:solidFill>
              <a:srgbClr val="D7DFF2"/>
            </a:solidFill>
            <a:prstDash val="solid"/>
          </a:ln>
          <a:effectLst>
            <a:outerShdw sx="100000" sy="100000" kx="0" ky="0" algn="bl" rotWithShape="0" blurRad="76200" dist="25400" dir="5400000">
              <a:srgbClr val="8B93B8">
                <a:alpha val="18000"/>
              </a:srgbClr>
            </a:outerShdw>
          </a:effectLst>
        </p:spPr>
      </p:sp>
      <p:sp>
        <p:nvSpPr>
          <p:cNvPr id="24" name="Text 22"/>
          <p:cNvSpPr txBox="1"/>
          <p:nvPr/>
        </p:nvSpPr>
        <p:spPr>
          <a:xfrm>
            <a:off x="6784848" y="2542032"/>
            <a:ext cx="4434840" cy="457200"/>
          </a:xfrm>
          <a:prstGeom prst="rect">
            <a:avLst/>
          </a:prstGeom>
          <a:noFill/>
          <a:ln/>
        </p:spPr>
        <p:txBody>
          <a:bodyPr wrap="square" lIns="0" tIns="0" rIns="0" bIns="0" rtlCol="0" anchor="ctr"/>
          <a:lstStyle/>
          <a:p>
            <a:pPr indent="0" marL="0">
              <a:buNone/>
            </a:pPr>
            <a:r>
              <a:rPr lang="en-US" sz="1000" dirty="0">
                <a:solidFill>
                  <a:srgbClr val="24273A"/>
                </a:solidFill>
                <a:latin typeface="Calibri" pitchFamily="34" charset="0"/>
                <a:ea typeface="Calibri" pitchFamily="34" charset="-122"/>
                <a:cs typeface="Calibri" pitchFamily="34" charset="-120"/>
              </a:rPr>
              <a:t>Hi! Ask me anything about stock, purchase orders, vendors or payments.</a:t>
            </a:r>
            <a:endParaRPr lang="en-US" sz="1000" dirty="0"/>
          </a:p>
        </p:txBody>
      </p:sp>
      <p:sp>
        <p:nvSpPr>
          <p:cNvPr id="25" name="Shape 23"/>
          <p:cNvSpPr/>
          <p:nvPr/>
        </p:nvSpPr>
        <p:spPr>
          <a:xfrm>
            <a:off x="6949440" y="3200400"/>
            <a:ext cx="3977640" cy="365760"/>
          </a:xfrm>
          <a:prstGeom prst="roundRect">
            <a:avLst>
              <a:gd name="adj" fmla="val 50000"/>
            </a:avLst>
          </a:prstGeom>
          <a:solidFill>
            <a:srgbClr val="3448A8"/>
          </a:solidFill>
          <a:ln/>
        </p:spPr>
      </p:sp>
      <p:sp>
        <p:nvSpPr>
          <p:cNvPr id="26" name="Text 24"/>
          <p:cNvSpPr txBox="1"/>
          <p:nvPr/>
        </p:nvSpPr>
        <p:spPr>
          <a:xfrm>
            <a:off x="6949440" y="3200400"/>
            <a:ext cx="397764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Who are our top 5 vendors by PO value?</a:t>
            </a:r>
            <a:endParaRPr lang="en-US" sz="1000" dirty="0"/>
          </a:p>
        </p:txBody>
      </p:sp>
      <p:sp>
        <p:nvSpPr>
          <p:cNvPr id="27" name="Shape 25"/>
          <p:cNvSpPr/>
          <p:nvPr/>
        </p:nvSpPr>
        <p:spPr>
          <a:xfrm>
            <a:off x="6629400" y="3703320"/>
            <a:ext cx="4709160" cy="2331720"/>
          </a:xfrm>
          <a:prstGeom prst="roundRect">
            <a:avLst>
              <a:gd name="adj" fmla="val 3137"/>
            </a:avLst>
          </a:prstGeom>
          <a:solidFill>
            <a:srgbClr val="FFFFFF"/>
          </a:solidFill>
          <a:ln w="12700">
            <a:solidFill>
              <a:srgbClr val="D7DFF2"/>
            </a:solidFill>
            <a:prstDash val="solid"/>
          </a:ln>
          <a:effectLst>
            <a:outerShdw sx="100000" sy="100000" kx="0" ky="0" algn="bl" rotWithShape="0" blurRad="76200" dist="25400" dir="5400000">
              <a:srgbClr val="8B93B8">
                <a:alpha val="18000"/>
              </a:srgbClr>
            </a:outerShdw>
          </a:effectLst>
        </p:spPr>
      </p:sp>
      <p:sp>
        <p:nvSpPr>
          <p:cNvPr id="28" name="Text 26"/>
          <p:cNvSpPr txBox="1"/>
          <p:nvPr/>
        </p:nvSpPr>
        <p:spPr>
          <a:xfrm>
            <a:off x="6784848" y="3794760"/>
            <a:ext cx="4434840" cy="566928"/>
          </a:xfrm>
          <a:prstGeom prst="rect">
            <a:avLst/>
          </a:prstGeom>
          <a:noFill/>
          <a:ln/>
        </p:spPr>
        <p:txBody>
          <a:bodyPr wrap="square" lIns="0" tIns="0" rIns="0" bIns="0" rtlCol="0" anchor="ctr"/>
          <a:lstStyle/>
          <a:p>
            <a:pPr indent="0" marL="0">
              <a:lnSpc>
                <a:spcPct val="115000"/>
              </a:lnSpc>
              <a:buNone/>
            </a:pPr>
            <a:r>
              <a:rPr lang="en-US" sz="950" dirty="0">
                <a:solidFill>
                  <a:srgbClr val="24273A"/>
                </a:solidFill>
                <a:latin typeface="Calibri" pitchFamily="34" charset="0"/>
                <a:ea typeface="Calibri" pitchFamily="34" charset="-122"/>
                <a:cs typeface="Calibri" pitchFamily="34" charset="-120"/>
              </a:rPr>
              <a:t>Alpha Fasteners leads at ₹18.4L, followed by Metro Steel and Prime Components. Combined, the top 5 account for 61% of PO value this period.</a:t>
            </a:r>
            <a:endParaRPr lang="en-US" sz="950" dirty="0"/>
          </a:p>
        </p:txBody>
      </p:sp>
      <p:sp>
        <p:nvSpPr>
          <p:cNvPr id="29" name="Shape 27"/>
          <p:cNvSpPr/>
          <p:nvPr/>
        </p:nvSpPr>
        <p:spPr>
          <a:xfrm>
            <a:off x="6903720" y="4569714"/>
            <a:ext cx="475488" cy="1172718"/>
          </a:xfrm>
          <a:prstGeom prst="rect">
            <a:avLst/>
          </a:prstGeom>
          <a:solidFill>
            <a:srgbClr val="F2A93C"/>
          </a:solidFill>
          <a:ln/>
        </p:spPr>
      </p:sp>
      <p:sp>
        <p:nvSpPr>
          <p:cNvPr id="30" name="Shape 28"/>
          <p:cNvSpPr/>
          <p:nvPr/>
        </p:nvSpPr>
        <p:spPr>
          <a:xfrm>
            <a:off x="7562088" y="4754880"/>
            <a:ext cx="475488" cy="987552"/>
          </a:xfrm>
          <a:prstGeom prst="rect">
            <a:avLst/>
          </a:prstGeom>
          <a:solidFill>
            <a:srgbClr val="8FA3E8"/>
          </a:solidFill>
          <a:ln/>
        </p:spPr>
      </p:sp>
      <p:sp>
        <p:nvSpPr>
          <p:cNvPr id="31" name="Shape 29"/>
          <p:cNvSpPr/>
          <p:nvPr/>
        </p:nvSpPr>
        <p:spPr>
          <a:xfrm>
            <a:off x="8220456" y="4977079"/>
            <a:ext cx="475488" cy="765353"/>
          </a:xfrm>
          <a:prstGeom prst="rect">
            <a:avLst/>
          </a:prstGeom>
          <a:solidFill>
            <a:srgbClr val="8FA3E8"/>
          </a:solidFill>
          <a:ln/>
        </p:spPr>
      </p:sp>
      <p:sp>
        <p:nvSpPr>
          <p:cNvPr id="32" name="Shape 30"/>
          <p:cNvSpPr/>
          <p:nvPr/>
        </p:nvSpPr>
        <p:spPr>
          <a:xfrm>
            <a:off x="8878824" y="5125212"/>
            <a:ext cx="475488" cy="617220"/>
          </a:xfrm>
          <a:prstGeom prst="rect">
            <a:avLst/>
          </a:prstGeom>
          <a:solidFill>
            <a:srgbClr val="8FA3E8"/>
          </a:solidFill>
          <a:ln/>
        </p:spPr>
      </p:sp>
      <p:sp>
        <p:nvSpPr>
          <p:cNvPr id="33" name="Shape 31"/>
          <p:cNvSpPr/>
          <p:nvPr/>
        </p:nvSpPr>
        <p:spPr>
          <a:xfrm>
            <a:off x="9537192" y="5248656"/>
            <a:ext cx="475488" cy="493776"/>
          </a:xfrm>
          <a:prstGeom prst="rect">
            <a:avLst/>
          </a:prstGeom>
          <a:solidFill>
            <a:srgbClr val="8FA3E8"/>
          </a:solidFill>
          <a:ln/>
        </p:spPr>
      </p:sp>
      <p:sp>
        <p:nvSpPr>
          <p:cNvPr id="34" name="Shape 32"/>
          <p:cNvSpPr/>
          <p:nvPr/>
        </p:nvSpPr>
        <p:spPr>
          <a:xfrm>
            <a:off x="6784848" y="5742432"/>
            <a:ext cx="4206240" cy="0"/>
          </a:xfrm>
          <a:prstGeom prst="line">
            <a:avLst/>
          </a:prstGeom>
          <a:noFill/>
          <a:ln w="12700">
            <a:solidFill>
              <a:srgbClr val="D7DFF2"/>
            </a:solidFill>
            <a:prstDash val="solid"/>
          </a:ln>
        </p:spPr>
      </p:sp>
      <p:sp>
        <p:nvSpPr>
          <p:cNvPr id="35" name="Shape 33"/>
          <p:cNvSpPr/>
          <p:nvPr/>
        </p:nvSpPr>
        <p:spPr>
          <a:xfrm>
            <a:off x="6784848" y="5870448"/>
            <a:ext cx="1051560" cy="292608"/>
          </a:xfrm>
          <a:prstGeom prst="roundRect">
            <a:avLst>
              <a:gd name="adj" fmla="val 50000"/>
            </a:avLst>
          </a:prstGeom>
          <a:solidFill>
            <a:srgbClr val="EEF3FC"/>
          </a:solidFill>
          <a:ln/>
        </p:spPr>
      </p:sp>
      <p:sp>
        <p:nvSpPr>
          <p:cNvPr id="36" name="Text 34"/>
          <p:cNvSpPr txBox="1"/>
          <p:nvPr/>
        </p:nvSpPr>
        <p:spPr>
          <a:xfrm>
            <a:off x="6784848" y="5870448"/>
            <a:ext cx="1051560" cy="292608"/>
          </a:xfrm>
          <a:prstGeom prst="rect">
            <a:avLst/>
          </a:prstGeom>
          <a:noFill/>
          <a:ln/>
        </p:spPr>
        <p:txBody>
          <a:bodyPr wrap="square" lIns="0" tIns="0" rIns="0" bIns="0" rtlCol="0" anchor="ctr"/>
          <a:lstStyle/>
          <a:p>
            <a:pPr algn="ctr" indent="0" marL="0">
              <a:buNone/>
            </a:pPr>
            <a:r>
              <a:rPr lang="en-US" sz="850" dirty="0">
                <a:solidFill>
                  <a:srgbClr val="1E2761"/>
                </a:solidFill>
                <a:latin typeface="Calibri" pitchFamily="34" charset="0"/>
                <a:ea typeface="Calibri" pitchFamily="34" charset="-122"/>
                <a:cs typeface="Calibri" pitchFamily="34" charset="-120"/>
              </a:rPr>
              <a:t>Show SQL ›</a:t>
            </a:r>
            <a:endParaRPr lang="en-US" sz="850" dirty="0"/>
          </a:p>
        </p:txBody>
      </p:sp>
      <p:sp>
        <p:nvSpPr>
          <p:cNvPr id="37" name="Shape 35"/>
          <p:cNvSpPr/>
          <p:nvPr/>
        </p:nvSpPr>
        <p:spPr>
          <a:xfrm>
            <a:off x="7936992" y="5870448"/>
            <a:ext cx="1600200" cy="292608"/>
          </a:xfrm>
          <a:prstGeom prst="roundRect">
            <a:avLst>
              <a:gd name="adj" fmla="val 50000"/>
            </a:avLst>
          </a:prstGeom>
          <a:solidFill>
            <a:srgbClr val="EEF3FC"/>
          </a:solidFill>
          <a:ln/>
        </p:spPr>
      </p:sp>
      <p:sp>
        <p:nvSpPr>
          <p:cNvPr id="38" name="Text 36"/>
          <p:cNvSpPr txBox="1"/>
          <p:nvPr/>
        </p:nvSpPr>
        <p:spPr>
          <a:xfrm>
            <a:off x="7936992" y="5870448"/>
            <a:ext cx="1600200" cy="292608"/>
          </a:xfrm>
          <a:prstGeom prst="rect">
            <a:avLst/>
          </a:prstGeom>
          <a:noFill/>
          <a:ln/>
        </p:spPr>
        <p:txBody>
          <a:bodyPr wrap="square" lIns="0" tIns="0" rIns="0" bIns="0" rtlCol="0" anchor="ctr"/>
          <a:lstStyle/>
          <a:p>
            <a:pPr algn="ctr" indent="0" marL="0">
              <a:buNone/>
            </a:pPr>
            <a:r>
              <a:rPr lang="en-US" sz="850" dirty="0">
                <a:solidFill>
                  <a:srgbClr val="1E2761"/>
                </a:solidFill>
                <a:latin typeface="Calibri" pitchFamily="34" charset="0"/>
                <a:ea typeface="Calibri" pitchFamily="34" charset="-122"/>
                <a:cs typeface="Calibri" pitchFamily="34" charset="-120"/>
              </a:rPr>
              <a:t>Show data (5 rows) ›</a:t>
            </a:r>
            <a:endParaRPr lang="en-US" sz="850" dirty="0"/>
          </a:p>
        </p:txBody>
      </p:sp>
      <p:sp>
        <p:nvSpPr>
          <p:cNvPr id="39" name="Text 37"/>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39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40" name="Text 38"/>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39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A93C"/>
                </a:solidFill>
                <a:latin typeface="Calibri" pitchFamily="34" charset="0"/>
                <a:ea typeface="Calibri" pitchFamily="34" charset="-122"/>
                <a:cs typeface="Calibri" pitchFamily="34" charset="-120"/>
              </a:rPr>
              <a:t>SYSTEM DESIGN</a:t>
            </a:r>
            <a:endParaRPr lang="en-US" sz="1200" dirty="0"/>
          </a:p>
        </p:txBody>
      </p:sp>
      <p:sp>
        <p:nvSpPr>
          <p:cNvPr id="3" name="Text 1"/>
          <p:cNvSpPr txBox="1"/>
          <p:nvPr/>
        </p:nvSpPr>
        <p:spPr>
          <a:xfrm>
            <a:off x="640080" y="749808"/>
            <a:ext cx="1051560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How the pieces fit together</a:t>
            </a:r>
            <a:endParaRPr lang="en-US" sz="3200" dirty="0"/>
          </a:p>
        </p:txBody>
      </p:sp>
      <p:sp>
        <p:nvSpPr>
          <p:cNvPr id="4" name="Shape 2"/>
          <p:cNvSpPr/>
          <p:nvPr/>
        </p:nvSpPr>
        <p:spPr>
          <a:xfrm>
            <a:off x="640080" y="2377440"/>
            <a:ext cx="2514600" cy="1417320"/>
          </a:xfrm>
          <a:prstGeom prst="roundRect">
            <a:avLst>
              <a:gd name="adj" fmla="val 5806"/>
            </a:avLst>
          </a:prstGeom>
          <a:solidFill>
            <a:srgbClr val="1E2761"/>
          </a:solidFill>
          <a:ln/>
        </p:spPr>
      </p:sp>
      <p:sp>
        <p:nvSpPr>
          <p:cNvPr id="5" name="Text 3"/>
          <p:cNvSpPr txBox="1"/>
          <p:nvPr/>
        </p:nvSpPr>
        <p:spPr>
          <a:xfrm>
            <a:off x="804672" y="2523744"/>
            <a:ext cx="2185416"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Browser</a:t>
            </a:r>
            <a:endParaRPr lang="en-US" sz="1600" dirty="0"/>
          </a:p>
        </p:txBody>
      </p:sp>
      <p:sp>
        <p:nvSpPr>
          <p:cNvPr id="6" name="Text 4"/>
          <p:cNvSpPr txBox="1"/>
          <p:nvPr/>
        </p:nvSpPr>
        <p:spPr>
          <a:xfrm>
            <a:off x="804672" y="2907792"/>
            <a:ext cx="2185416" cy="274320"/>
          </a:xfrm>
          <a:prstGeom prst="rect">
            <a:avLst/>
          </a:prstGeom>
          <a:noFill/>
          <a:ln/>
        </p:spPr>
        <p:txBody>
          <a:bodyPr wrap="square" lIns="0" tIns="0" rIns="0" bIns="0" rtlCol="0" anchor="ctr"/>
          <a:lstStyle/>
          <a:p>
            <a:pPr indent="0" marL="0">
              <a:buNone/>
            </a:pPr>
            <a:r>
              <a:rPr lang="en-US" sz="1000" dirty="0">
                <a:solidFill>
                  <a:srgbClr val="CADCFC"/>
                </a:solidFill>
                <a:latin typeface="Consolas" pitchFamily="34" charset="0"/>
                <a:ea typeface="Consolas" pitchFamily="34" charset="-122"/>
                <a:cs typeface="Consolas" pitchFamily="34" charset="-120"/>
              </a:rPr>
              <a:t>Next.js UI</a:t>
            </a:r>
            <a:endParaRPr lang="en-US" sz="1000" dirty="0"/>
          </a:p>
        </p:txBody>
      </p:sp>
      <p:sp>
        <p:nvSpPr>
          <p:cNvPr id="7" name="Text 5"/>
          <p:cNvSpPr txBox="1"/>
          <p:nvPr/>
        </p:nvSpPr>
        <p:spPr>
          <a:xfrm>
            <a:off x="804672" y="3291840"/>
            <a:ext cx="2185416" cy="457200"/>
          </a:xfrm>
          <a:prstGeom prst="rect">
            <a:avLst/>
          </a:prstGeom>
          <a:noFill/>
          <a:ln/>
        </p:spPr>
        <p:txBody>
          <a:bodyPr wrap="square" lIns="0" tIns="0" rIns="0" bIns="0" rtlCol="0" anchor="ctr"/>
          <a:lstStyle/>
          <a:p>
            <a:pPr indent="0" marL="0">
              <a:lnSpc>
                <a:spcPct val="110000"/>
              </a:lnSpc>
              <a:buNone/>
            </a:pPr>
            <a:r>
              <a:rPr lang="en-US" sz="950" dirty="0">
                <a:solidFill>
                  <a:srgbClr val="AEB9E0"/>
                </a:solidFill>
                <a:latin typeface="Calibri" pitchFamily="34" charset="0"/>
                <a:ea typeface="Calibri" pitchFamily="34" charset="-122"/>
                <a:cs typeface="Calibri" pitchFamily="34" charset="-120"/>
              </a:rPr>
              <a:t>role picker · chat · charts</a:t>
            </a:r>
            <a:endParaRPr lang="en-US" sz="950" dirty="0"/>
          </a:p>
        </p:txBody>
      </p:sp>
      <p:sp>
        <p:nvSpPr>
          <p:cNvPr id="8" name="Text 6"/>
          <p:cNvSpPr txBox="1"/>
          <p:nvPr/>
        </p:nvSpPr>
        <p:spPr>
          <a:xfrm>
            <a:off x="3154680" y="2377440"/>
            <a:ext cx="292608" cy="1417320"/>
          </a:xfrm>
          <a:prstGeom prst="rect">
            <a:avLst/>
          </a:prstGeom>
          <a:noFill/>
          <a:ln/>
        </p:spPr>
        <p:txBody>
          <a:bodyPr wrap="square" lIns="0" tIns="0" rIns="0" bIns="0" rtlCol="0" anchor="ctr"/>
          <a:lstStyle/>
          <a:p>
            <a:pPr algn="ctr" indent="0" marL="0">
              <a:buNone/>
            </a:pPr>
            <a:r>
              <a:rPr lang="en-US" sz="2000" b="1" dirty="0">
                <a:solidFill>
                  <a:srgbClr val="6B7390"/>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3447288" y="2377440"/>
            <a:ext cx="2514600" cy="1417320"/>
          </a:xfrm>
          <a:prstGeom prst="roundRect">
            <a:avLst>
              <a:gd name="adj" fmla="val 5806"/>
            </a:avLst>
          </a:prstGeom>
          <a:solidFill>
            <a:srgbClr val="1E2761"/>
          </a:solidFill>
          <a:ln/>
        </p:spPr>
      </p:sp>
      <p:sp>
        <p:nvSpPr>
          <p:cNvPr id="10" name="Text 8"/>
          <p:cNvSpPr txBox="1"/>
          <p:nvPr/>
        </p:nvSpPr>
        <p:spPr>
          <a:xfrm>
            <a:off x="3611880" y="2523744"/>
            <a:ext cx="2185416"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FastAPI</a:t>
            </a:r>
            <a:endParaRPr lang="en-US" sz="1600" dirty="0"/>
          </a:p>
        </p:txBody>
      </p:sp>
      <p:sp>
        <p:nvSpPr>
          <p:cNvPr id="11" name="Text 9"/>
          <p:cNvSpPr txBox="1"/>
          <p:nvPr/>
        </p:nvSpPr>
        <p:spPr>
          <a:xfrm>
            <a:off x="3611880" y="2907792"/>
            <a:ext cx="2185416" cy="274320"/>
          </a:xfrm>
          <a:prstGeom prst="rect">
            <a:avLst/>
          </a:prstGeom>
          <a:noFill/>
          <a:ln/>
        </p:spPr>
        <p:txBody>
          <a:bodyPr wrap="square" lIns="0" tIns="0" rIns="0" bIns="0" rtlCol="0" anchor="ctr"/>
          <a:lstStyle/>
          <a:p>
            <a:pPr indent="0" marL="0">
              <a:buNone/>
            </a:pPr>
            <a:r>
              <a:rPr lang="en-US" sz="1000" dirty="0">
                <a:solidFill>
                  <a:srgbClr val="CADCFC"/>
                </a:solidFill>
                <a:latin typeface="Consolas" pitchFamily="34" charset="0"/>
                <a:ea typeface="Consolas" pitchFamily="34" charset="-122"/>
                <a:cs typeface="Consolas" pitchFamily="34" charset="-120"/>
              </a:rPr>
              <a:t>/chat  /confirm  /roles</a:t>
            </a:r>
            <a:endParaRPr lang="en-US" sz="1000" dirty="0"/>
          </a:p>
        </p:txBody>
      </p:sp>
      <p:sp>
        <p:nvSpPr>
          <p:cNvPr id="12" name="Text 10"/>
          <p:cNvSpPr txBox="1"/>
          <p:nvPr/>
        </p:nvSpPr>
        <p:spPr>
          <a:xfrm>
            <a:off x="3611880" y="3291840"/>
            <a:ext cx="2185416" cy="457200"/>
          </a:xfrm>
          <a:prstGeom prst="rect">
            <a:avLst/>
          </a:prstGeom>
          <a:noFill/>
          <a:ln/>
        </p:spPr>
        <p:txBody>
          <a:bodyPr wrap="square" lIns="0" tIns="0" rIns="0" bIns="0" rtlCol="0" anchor="ctr"/>
          <a:lstStyle/>
          <a:p>
            <a:pPr indent="0" marL="0">
              <a:lnSpc>
                <a:spcPct val="110000"/>
              </a:lnSpc>
              <a:buNone/>
            </a:pPr>
            <a:r>
              <a:rPr lang="en-US" sz="950" dirty="0">
                <a:solidFill>
                  <a:srgbClr val="AEB9E0"/>
                </a:solidFill>
                <a:latin typeface="Calibri" pitchFamily="34" charset="0"/>
                <a:ea typeface="Calibri" pitchFamily="34" charset="-122"/>
                <a:cs typeface="Calibri" pitchFamily="34" charset="-120"/>
              </a:rPr>
              <a:t>validation · CORS · routing</a:t>
            </a:r>
            <a:endParaRPr lang="en-US" sz="950" dirty="0"/>
          </a:p>
        </p:txBody>
      </p:sp>
      <p:sp>
        <p:nvSpPr>
          <p:cNvPr id="13" name="Text 11"/>
          <p:cNvSpPr txBox="1"/>
          <p:nvPr/>
        </p:nvSpPr>
        <p:spPr>
          <a:xfrm>
            <a:off x="5961888" y="2377440"/>
            <a:ext cx="292608" cy="1417320"/>
          </a:xfrm>
          <a:prstGeom prst="rect">
            <a:avLst/>
          </a:prstGeom>
          <a:noFill/>
          <a:ln/>
        </p:spPr>
        <p:txBody>
          <a:bodyPr wrap="square" lIns="0" tIns="0" rIns="0" bIns="0" rtlCol="0" anchor="ctr"/>
          <a:lstStyle/>
          <a:p>
            <a:pPr algn="ctr" indent="0" marL="0">
              <a:buNone/>
            </a:pPr>
            <a:r>
              <a:rPr lang="en-US" sz="2000" b="1" dirty="0">
                <a:solidFill>
                  <a:srgbClr val="6B7390"/>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6254496" y="2377440"/>
            <a:ext cx="2514600" cy="1417320"/>
          </a:xfrm>
          <a:prstGeom prst="roundRect">
            <a:avLst>
              <a:gd name="adj" fmla="val 5806"/>
            </a:avLst>
          </a:prstGeom>
          <a:solidFill>
            <a:srgbClr val="F2A93C"/>
          </a:solidFill>
          <a:ln/>
        </p:spPr>
      </p:sp>
      <p:sp>
        <p:nvSpPr>
          <p:cNvPr id="15" name="Text 13"/>
          <p:cNvSpPr txBox="1"/>
          <p:nvPr/>
        </p:nvSpPr>
        <p:spPr>
          <a:xfrm>
            <a:off x="6419088" y="2523744"/>
            <a:ext cx="2185416"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LangGraph Agent</a:t>
            </a:r>
            <a:endParaRPr lang="en-US" sz="1600" dirty="0"/>
          </a:p>
        </p:txBody>
      </p:sp>
      <p:sp>
        <p:nvSpPr>
          <p:cNvPr id="16" name="Text 14"/>
          <p:cNvSpPr txBox="1"/>
          <p:nvPr/>
        </p:nvSpPr>
        <p:spPr>
          <a:xfrm>
            <a:off x="6419088" y="2907792"/>
            <a:ext cx="2185416" cy="274320"/>
          </a:xfrm>
          <a:prstGeom prst="rect">
            <a:avLst/>
          </a:prstGeom>
          <a:noFill/>
          <a:ln/>
        </p:spPr>
        <p:txBody>
          <a:bodyPr wrap="square" lIns="0" tIns="0" rIns="0" bIns="0" rtlCol="0" anchor="ctr"/>
          <a:lstStyle/>
          <a:p>
            <a:pPr indent="0" marL="0">
              <a:buNone/>
            </a:pPr>
            <a:r>
              <a:rPr lang="en-US" sz="1000" dirty="0">
                <a:solidFill>
                  <a:srgbClr val="141A47"/>
                </a:solidFill>
                <a:latin typeface="Consolas" pitchFamily="34" charset="0"/>
                <a:ea typeface="Consolas" pitchFamily="34" charset="-122"/>
                <a:cs typeface="Consolas" pitchFamily="34" charset="-120"/>
              </a:rPr>
              <a:t>OpenAI gpt-4.1-mini</a:t>
            </a:r>
            <a:endParaRPr lang="en-US" sz="1000" dirty="0"/>
          </a:p>
        </p:txBody>
      </p:sp>
      <p:sp>
        <p:nvSpPr>
          <p:cNvPr id="17" name="Text 15"/>
          <p:cNvSpPr txBox="1"/>
          <p:nvPr/>
        </p:nvSpPr>
        <p:spPr>
          <a:xfrm>
            <a:off x="6419088" y="3291840"/>
            <a:ext cx="2185416" cy="457200"/>
          </a:xfrm>
          <a:prstGeom prst="rect">
            <a:avLst/>
          </a:prstGeom>
          <a:noFill/>
          <a:ln/>
        </p:spPr>
        <p:txBody>
          <a:bodyPr wrap="square" lIns="0" tIns="0" rIns="0" bIns="0" rtlCol="0" anchor="ctr"/>
          <a:lstStyle/>
          <a:p>
            <a:pPr indent="0" marL="0">
              <a:lnSpc>
                <a:spcPct val="110000"/>
              </a:lnSpc>
              <a:buNone/>
            </a:pPr>
            <a:r>
              <a:rPr lang="en-US" sz="950" dirty="0">
                <a:solidFill>
                  <a:srgbClr val="141A47"/>
                </a:solidFill>
                <a:latin typeface="Calibri" pitchFamily="34" charset="0"/>
                <a:ea typeface="Calibri" pitchFamily="34" charset="-122"/>
                <a:cs typeface="Calibri" pitchFamily="34" charset="-120"/>
              </a:rPr>
              <a:t>write SQL → check → run → explain</a:t>
            </a:r>
            <a:endParaRPr lang="en-US" sz="950" dirty="0"/>
          </a:p>
        </p:txBody>
      </p:sp>
      <p:sp>
        <p:nvSpPr>
          <p:cNvPr id="18" name="Text 16"/>
          <p:cNvSpPr txBox="1"/>
          <p:nvPr/>
        </p:nvSpPr>
        <p:spPr>
          <a:xfrm>
            <a:off x="8769096" y="2377440"/>
            <a:ext cx="292608" cy="1417320"/>
          </a:xfrm>
          <a:prstGeom prst="rect">
            <a:avLst/>
          </a:prstGeom>
          <a:noFill/>
          <a:ln/>
        </p:spPr>
        <p:txBody>
          <a:bodyPr wrap="square" lIns="0" tIns="0" rIns="0" bIns="0" rtlCol="0" anchor="ctr"/>
          <a:lstStyle/>
          <a:p>
            <a:pPr algn="ctr" indent="0" marL="0">
              <a:buNone/>
            </a:pPr>
            <a:r>
              <a:rPr lang="en-US" sz="2000" b="1" dirty="0">
                <a:solidFill>
                  <a:srgbClr val="6B7390"/>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9061704" y="2377440"/>
            <a:ext cx="2514600" cy="1417320"/>
          </a:xfrm>
          <a:prstGeom prst="roundRect">
            <a:avLst>
              <a:gd name="adj" fmla="val 5806"/>
            </a:avLst>
          </a:prstGeom>
          <a:solidFill>
            <a:srgbClr val="1E2761"/>
          </a:solidFill>
          <a:ln/>
        </p:spPr>
      </p:sp>
      <p:sp>
        <p:nvSpPr>
          <p:cNvPr id="20" name="Text 18"/>
          <p:cNvSpPr txBox="1"/>
          <p:nvPr/>
        </p:nvSpPr>
        <p:spPr>
          <a:xfrm>
            <a:off x="9226296" y="2523744"/>
            <a:ext cx="2185416"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PostgreSQL</a:t>
            </a:r>
            <a:endParaRPr lang="en-US" sz="1600" dirty="0"/>
          </a:p>
        </p:txBody>
      </p:sp>
      <p:sp>
        <p:nvSpPr>
          <p:cNvPr id="21" name="Text 19"/>
          <p:cNvSpPr txBox="1"/>
          <p:nvPr/>
        </p:nvSpPr>
        <p:spPr>
          <a:xfrm>
            <a:off x="9226296" y="2907792"/>
            <a:ext cx="2185416" cy="274320"/>
          </a:xfrm>
          <a:prstGeom prst="rect">
            <a:avLst/>
          </a:prstGeom>
          <a:noFill/>
          <a:ln/>
        </p:spPr>
        <p:txBody>
          <a:bodyPr wrap="square" lIns="0" tIns="0" rIns="0" bIns="0" rtlCol="0" anchor="ctr"/>
          <a:lstStyle/>
          <a:p>
            <a:pPr indent="0" marL="0">
              <a:buNone/>
            </a:pPr>
            <a:r>
              <a:rPr lang="en-US" sz="1000" dirty="0">
                <a:solidFill>
                  <a:srgbClr val="CADCFC"/>
                </a:solidFill>
                <a:latin typeface="Consolas" pitchFamily="34" charset="0"/>
                <a:ea typeface="Consolas" pitchFamily="34" charset="-122"/>
                <a:cs typeface="Consolas" pitchFamily="34" charset="-120"/>
              </a:rPr>
              <a:t>hosted on Railway</a:t>
            </a:r>
            <a:endParaRPr lang="en-US" sz="1000" dirty="0"/>
          </a:p>
        </p:txBody>
      </p:sp>
      <p:sp>
        <p:nvSpPr>
          <p:cNvPr id="22" name="Text 20"/>
          <p:cNvSpPr txBox="1"/>
          <p:nvPr/>
        </p:nvSpPr>
        <p:spPr>
          <a:xfrm>
            <a:off x="9226296" y="3291840"/>
            <a:ext cx="2185416" cy="457200"/>
          </a:xfrm>
          <a:prstGeom prst="rect">
            <a:avLst/>
          </a:prstGeom>
          <a:noFill/>
          <a:ln/>
        </p:spPr>
        <p:txBody>
          <a:bodyPr wrap="square" lIns="0" tIns="0" rIns="0" bIns="0" rtlCol="0" anchor="ctr"/>
          <a:lstStyle/>
          <a:p>
            <a:pPr indent="0" marL="0">
              <a:lnSpc>
                <a:spcPct val="110000"/>
              </a:lnSpc>
              <a:buNone/>
            </a:pPr>
            <a:r>
              <a:rPr lang="en-US" sz="950" dirty="0">
                <a:solidFill>
                  <a:srgbClr val="AEB9E0"/>
                </a:solidFill>
                <a:latin typeface="Calibri" pitchFamily="34" charset="0"/>
                <a:ea typeface="Calibri" pitchFamily="34" charset="-122"/>
                <a:cs typeface="Calibri" pitchFamily="34" charset="-120"/>
              </a:rPr>
              <a:t>20 tables, read-only for chat</a:t>
            </a:r>
            <a:endParaRPr lang="en-US" sz="950" dirty="0"/>
          </a:p>
        </p:txBody>
      </p:sp>
      <p:sp>
        <p:nvSpPr>
          <p:cNvPr id="23" name="Shape 21"/>
          <p:cNvSpPr/>
          <p:nvPr/>
        </p:nvSpPr>
        <p:spPr>
          <a:xfrm>
            <a:off x="822960" y="4297680"/>
            <a:ext cx="10744200" cy="0"/>
          </a:xfrm>
          <a:prstGeom prst="line">
            <a:avLst/>
          </a:prstGeom>
          <a:noFill/>
          <a:ln w="19050">
            <a:solidFill>
              <a:srgbClr val="D7DFF2"/>
            </a:solidFill>
            <a:prstDash val="solid"/>
            <a:headEnd type="triangle"/>
            <a:tailEnd type="triangle"/>
          </a:ln>
        </p:spPr>
      </p:sp>
      <p:sp>
        <p:nvSpPr>
          <p:cNvPr id="24" name="Text 22"/>
          <p:cNvSpPr txBox="1"/>
          <p:nvPr/>
        </p:nvSpPr>
        <p:spPr>
          <a:xfrm>
            <a:off x="640080" y="4407408"/>
            <a:ext cx="10972800" cy="274320"/>
          </a:xfrm>
          <a:prstGeom prst="rect">
            <a:avLst/>
          </a:prstGeom>
          <a:noFill/>
          <a:ln/>
        </p:spPr>
        <p:txBody>
          <a:bodyPr wrap="square" lIns="0" tIns="0" rIns="0" bIns="0" rtlCol="0" anchor="ctr"/>
          <a:lstStyle/>
          <a:p>
            <a:pPr algn="ctr" indent="0" marL="0">
              <a:buNone/>
            </a:pPr>
            <a:r>
              <a:rPr lang="en-US" sz="1050" i="1" dirty="0">
                <a:solidFill>
                  <a:srgbClr val="6B7390"/>
                </a:solidFill>
                <a:latin typeface="Calibri" pitchFamily="34" charset="0"/>
                <a:ea typeface="Calibri" pitchFamily="34" charset="-122"/>
                <a:cs typeface="Calibri" pitchFamily="34" charset="-120"/>
              </a:rPr>
              <a:t>question + role  →  SQL, checked against role permissions  →  rows  →  plain-English answer + chart spec  ←</a:t>
            </a:r>
            <a:endParaRPr lang="en-US" sz="1050" dirty="0"/>
          </a:p>
        </p:txBody>
      </p:sp>
      <p:sp>
        <p:nvSpPr>
          <p:cNvPr id="25" name="Shape 23"/>
          <p:cNvSpPr/>
          <p:nvPr/>
        </p:nvSpPr>
        <p:spPr>
          <a:xfrm>
            <a:off x="640080" y="4434840"/>
            <a:ext cx="10881360" cy="1600200"/>
          </a:xfrm>
          <a:prstGeom prst="roundRect">
            <a:avLst>
              <a:gd name="adj" fmla="val 4571"/>
            </a:avLst>
          </a:prstGeom>
          <a:solidFill>
            <a:srgbClr val="EEF3FC"/>
          </a:solidFill>
          <a:ln/>
          <a:effectLst>
            <a:outerShdw sx="100000" sy="100000" kx="0" ky="0" algn="bl" rotWithShape="0" blurRad="76200" dist="25400" dir="5400000">
              <a:srgbClr val="8B93B8">
                <a:alpha val="18000"/>
              </a:srgbClr>
            </a:outerShdw>
          </a:effectLst>
        </p:spPr>
      </p:sp>
      <p:sp>
        <p:nvSpPr>
          <p:cNvPr id="26" name="Text 24"/>
          <p:cNvSpPr txBox="1"/>
          <p:nvPr/>
        </p:nvSpPr>
        <p:spPr>
          <a:xfrm>
            <a:off x="914400" y="4599432"/>
            <a:ext cx="10332720" cy="320040"/>
          </a:xfrm>
          <a:prstGeom prst="rect">
            <a:avLst/>
          </a:prstGeom>
          <a:noFill/>
          <a:ln/>
        </p:spPr>
        <p:txBody>
          <a:bodyPr wrap="square" lIns="0" tIns="0" rIns="0" bIns="0" rtlCol="0" anchor="ctr"/>
          <a:lstStyle/>
          <a:p>
            <a:pPr indent="0" marL="0">
              <a:buNone/>
            </a:pPr>
            <a:r>
              <a:rPr lang="en-US" sz="1200" b="1" dirty="0">
                <a:solidFill>
                  <a:srgbClr val="24273A"/>
                </a:solidFill>
                <a:latin typeface="Calibri" pitchFamily="34" charset="0"/>
                <a:ea typeface="Calibri" pitchFamily="34" charset="-122"/>
                <a:cs typeface="Calibri" pitchFamily="34" charset="-120"/>
              </a:rPr>
              <a:t>Why a LangGraph agent sits between FastAPI and Postgres, instead of the API talking to the database directly:</a:t>
            </a:r>
            <a:endParaRPr lang="en-US" sz="1200" dirty="0"/>
          </a:p>
        </p:txBody>
      </p:sp>
      <p:sp>
        <p:nvSpPr>
          <p:cNvPr id="27" name="Text 25"/>
          <p:cNvSpPr txBox="1"/>
          <p:nvPr/>
        </p:nvSpPr>
        <p:spPr>
          <a:xfrm>
            <a:off x="914400" y="4919472"/>
            <a:ext cx="10332720" cy="1005840"/>
          </a:xfrm>
          <a:prstGeom prst="rect">
            <a:avLst/>
          </a:prstGeom>
          <a:noFill/>
          <a:ln/>
        </p:spPr>
        <p:txBody>
          <a:bodyPr wrap="square" lIns="0" tIns="0" rIns="0" bIns="0" rtlCol="0" anchor="ctr"/>
          <a:lstStyle/>
          <a:p>
            <a:pPr indent="0" marL="0">
              <a:lnSpc>
                <a:spcPct val="125000"/>
              </a:lnSpc>
              <a:buNone/>
            </a:pPr>
            <a:r>
              <a:rPr lang="en-US" sz="1150" dirty="0">
                <a:solidFill>
                  <a:srgbClr val="24273A"/>
                </a:solidFill>
                <a:latin typeface="Calibri" pitchFamily="34" charset="0"/>
                <a:ea typeface="Calibri" pitchFamily="34" charset="-122"/>
                <a:cs typeface="Calibri" pitchFamily="34" charset="-120"/>
              </a:rPr>
              <a:t>The manufacturing tables are not something a PM or a warehouse lead can query by hand — questions arrive in plain English, and the exact SQL, the permission check and the safety rules all need to happen the same way, every time. The agent is that one consistent place: it turns the question into SQL, checks it against the role, runs it, and explains the result.</a:t>
            </a:r>
            <a:endParaRPr lang="en-US" sz="1150" dirty="0"/>
          </a:p>
        </p:txBody>
      </p:sp>
      <p:sp>
        <p:nvSpPr>
          <p:cNvPr id="28" name="Text 26"/>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39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29" name="Text 27"/>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39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A93C"/>
                </a:solidFill>
                <a:latin typeface="Calibri" pitchFamily="34" charset="0"/>
                <a:ea typeface="Calibri" pitchFamily="34" charset="-122"/>
                <a:cs typeface="Calibri" pitchFamily="34" charset="-120"/>
              </a:rPr>
              <a:t>TECH STACK</a:t>
            </a:r>
            <a:endParaRPr lang="en-US" sz="1200" dirty="0"/>
          </a:p>
        </p:txBody>
      </p:sp>
      <p:sp>
        <p:nvSpPr>
          <p:cNvPr id="3" name="Text 1"/>
          <p:cNvSpPr txBox="1"/>
          <p:nvPr/>
        </p:nvSpPr>
        <p:spPr>
          <a:xfrm>
            <a:off x="640080" y="749808"/>
            <a:ext cx="1051560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How, why, where and when each piece is used</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27080" cy="914400"/>
        </p:xfrm>
        <a:graphic>
          <a:graphicData uri="http://schemas.openxmlformats.org/drawingml/2006/table">
            <a:tbl>
              <a:tblPr/>
              <a:tblGrid>
                <a:gridCol w="1737360"/>
                <a:gridCol w="1965960"/>
                <a:gridCol w="3977640"/>
                <a:gridCol w="324612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Tool</a:t>
                      </a:r>
                      <a:endParaRPr lang="en-US" sz="110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 this one</a:t>
                      </a:r>
                      <a:endParaRPr lang="en-US" sz="110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When it runs</a:t>
                      </a:r>
                      <a:endParaRPr lang="en-US" sz="110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1E2761"/>
                    </a:solidFill>
                  </a:tcPr>
                </a:tc>
              </a:tr>
              <a:tr h="777240">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Frontend UI</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Next.js + React,</a:t>
                      </a:r>
                      <a:endParaRPr lang="en-US" sz="1020" dirty="0">
                        <a:latin typeface="Calibri" charset="0"/>
                        <a:ea typeface="Calibri" charset="0"/>
                        <a:cs typeface="Calibri" charset="0"/>
                      </a:endParaRPr>
                    </a:p>
                    <a:p>
                      <a:pPr indent="0" marL="0">
                        <a:buNone/>
                      </a:pPr>
                      <a:r>
                        <a:rPr lang="en-US" sz="1020" dirty="0">
                          <a:solidFill>
                            <a:srgbClr val="24273A"/>
                          </a:solidFill>
                          <a:latin typeface="Calibri" pitchFamily="34" charset="0"/>
                          <a:ea typeface="Calibri" pitchFamily="34" charset="-122"/>
                          <a:cs typeface="Calibri" pitchFamily="34" charset="-120"/>
                        </a:rPr>
                        <a:t>Recharts for charts</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Fast to iterate on a chat UI; free, one-click hosting on Vercel when it's time to ship</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Every page load, in the browser — renders the chat, calls the backend</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r>
              <a:tr h="658368">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API layer</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FastAPI (Python)</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Thin and typed (Pydantic); same language as the agent, so no serialization layer between them</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Receives each question, validates it, calls the agent, returns JSON</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r>
              <a:tr h="868680">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Agent orchestration</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LangGraph</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Models the flow as an explicit graph (write → check → run → explain) instead of one opaque LLM loop — each step is testable and retryable on its own</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Once per question, inside the /chat and /confirm endpoints</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r>
              <a:tr h="868680">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Language model</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OpenAI gpt-4.1-mini,</a:t>
                      </a:r>
                      <a:endParaRPr lang="en-US" sz="1020" dirty="0">
                        <a:latin typeface="Calibri" charset="0"/>
                        <a:ea typeface="Calibri" charset="0"/>
                        <a:cs typeface="Calibri" charset="0"/>
                      </a:endParaRPr>
                    </a:p>
                    <a:p>
                      <a:pPr indent="0" marL="0">
                        <a:buNone/>
                      </a:pPr>
                      <a:r>
                        <a:rPr lang="en-US" sz="1020" dirty="0">
                          <a:solidFill>
                            <a:srgbClr val="24273A"/>
                          </a:solidFill>
                          <a:latin typeface="Calibri" pitchFamily="34" charset="0"/>
                          <a:ea typeface="Calibri" pitchFamily="34" charset="-122"/>
                          <a:cs typeface="Calibri" pitchFamily="34" charset="-120"/>
                        </a:rPr>
                        <a:t>JSON mode, temperature 0</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Cheap and fast; text-to-SQL over ~20 tables doesn't need a larger model, and temperature 0 keeps SQL generation deterministic</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Twice per question: once to write SQL, once to explain the result</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r>
              <a:tr h="658368">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Database</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PostgreSQL on Railway</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Already provisioned with the 17+ manufacturing tables — no migration needed</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Every read query (20s timeout, read-only transaction) and confirmed write</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r>
              <a:tr h="658368">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Debugging (optional)</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LangSmith tracing</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See every prompt, SQL query and retry the agent made, without adding print statements</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20" dirty="0">
                          <a:solidFill>
                            <a:srgbClr val="24273A"/>
                          </a:solidFill>
                          <a:latin typeface="Calibri" pitchFamily="34" charset="0"/>
                          <a:ea typeface="Calibri" pitchFamily="34" charset="-122"/>
                          <a:cs typeface="Calibri" pitchFamily="34" charset="-120"/>
                        </a:rPr>
                        <a:t>Turned on by setting LANGSMITH_TRACING=true in backend/.env</a:t>
                      </a:r>
                      <a:endParaRPr lang="en-US" sz="102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r>
            </a:tbl>
          </a:graphicData>
        </a:graphic>
      </p:graphicFrame>
      <p:sp>
        <p:nvSpPr>
          <p:cNvPr id="5" name="Text 2"/>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39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6" name="Text 3"/>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39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A93C"/>
                </a:solidFill>
                <a:latin typeface="Calibri" pitchFamily="34" charset="0"/>
                <a:ea typeface="Calibri" pitchFamily="34" charset="-122"/>
                <a:cs typeface="Calibri" pitchFamily="34" charset="-120"/>
              </a:rPr>
              <a:t>BUILD STEP 1 OF 7</a:t>
            </a:r>
            <a:endParaRPr lang="en-US" sz="1200" dirty="0"/>
          </a:p>
        </p:txBody>
      </p:sp>
      <p:sp>
        <p:nvSpPr>
          <p:cNvPr id="3" name="Text 1"/>
          <p:cNvSpPr txBox="1"/>
          <p:nvPr/>
        </p:nvSpPr>
        <p:spPr>
          <a:xfrm>
            <a:off x="640080" y="749808"/>
            <a:ext cx="1051560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Write the questions before the code</a:t>
            </a:r>
            <a:endParaRPr lang="en-US" sz="3200" dirty="0"/>
          </a:p>
        </p:txBody>
      </p:sp>
      <p:sp>
        <p:nvSpPr>
          <p:cNvPr id="4" name="Shape 2"/>
          <p:cNvSpPr/>
          <p:nvPr/>
        </p:nvSpPr>
        <p:spPr>
          <a:xfrm>
            <a:off x="640080" y="1600200"/>
            <a:ext cx="10927080" cy="713232"/>
          </a:xfrm>
          <a:prstGeom prst="roundRect">
            <a:avLst>
              <a:gd name="adj" fmla="val 10256"/>
            </a:avLst>
          </a:prstGeom>
          <a:solidFill>
            <a:srgbClr val="1E2761"/>
          </a:solidFill>
          <a:ln/>
          <a:effectLst>
            <a:outerShdw sx="100000" sy="100000" kx="0" ky="0" algn="bl" rotWithShape="0" blurRad="76200" dist="25400" dir="5400000">
              <a:srgbClr val="8B93B8">
                <a:alpha val="18000"/>
              </a:srgbClr>
            </a:outerShdw>
          </a:effectLst>
        </p:spPr>
      </p:sp>
      <p:sp>
        <p:nvSpPr>
          <p:cNvPr id="5" name="Text 3"/>
          <p:cNvSpPr txBox="1"/>
          <p:nvPr/>
        </p:nvSpPr>
        <p:spPr>
          <a:xfrm>
            <a:off x="914400" y="1600200"/>
            <a:ext cx="10378440" cy="713232"/>
          </a:xfrm>
          <a:prstGeom prst="rect">
            <a:avLst/>
          </a:prstGeom>
          <a:noFill/>
          <a:ln/>
        </p:spPr>
        <p:txBody>
          <a:bodyPr wrap="square" lIns="0" tIns="0" rIns="0" bIns="0" rtlCol="0" anchor="ctr"/>
          <a:lstStyle/>
          <a:p>
            <a:pPr indent="0" marL="0">
              <a:buNone/>
            </a:pPr>
            <a:r>
              <a:rPr lang="en-US" sz="1550" i="1" dirty="0">
                <a:solidFill>
                  <a:srgbClr val="FFFFFF"/>
                </a:solidFill>
                <a:latin typeface="Cambria" pitchFamily="34" charset="0"/>
                <a:ea typeface="Cambria" pitchFamily="34" charset="-122"/>
                <a:cs typeface="Cambria" pitchFamily="34" charset="-120"/>
              </a:rPr>
              <a:t>“These were written before the agent, as the definition of ‘done’.”</a:t>
            </a:r>
            <a:endParaRPr lang="en-US" sz="1550" dirty="0"/>
          </a:p>
        </p:txBody>
      </p:sp>
      <p:sp>
        <p:nvSpPr>
          <p:cNvPr id="6" name="Text 4"/>
          <p:cNvSpPr txBox="1"/>
          <p:nvPr/>
        </p:nvSpPr>
        <p:spPr>
          <a:xfrm>
            <a:off x="914400" y="2395728"/>
            <a:ext cx="7315200" cy="256032"/>
          </a:xfrm>
          <a:prstGeom prst="rect">
            <a:avLst/>
          </a:prstGeom>
          <a:noFill/>
          <a:ln/>
        </p:spPr>
        <p:txBody>
          <a:bodyPr wrap="square" lIns="0" tIns="0" rIns="0" bIns="0" rtlCol="0" anchor="ctr"/>
          <a:lstStyle/>
          <a:p>
            <a:pPr indent="0" marL="0">
              <a:buNone/>
            </a:pPr>
            <a:r>
              <a:rPr lang="en-US" sz="1000" dirty="0">
                <a:solidFill>
                  <a:srgbClr val="6B7390"/>
                </a:solidFill>
                <a:latin typeface="Calibri" pitchFamily="34" charset="0"/>
                <a:ea typeface="Calibri" pitchFamily="34" charset="-122"/>
                <a:cs typeface="Calibri" pitchFamily="34" charset="-120"/>
              </a:rPr>
              <a:t>— comment at the top of backend/tests/test_questions.py</a:t>
            </a:r>
            <a:endParaRPr lang="en-US" sz="1000" dirty="0"/>
          </a:p>
        </p:txBody>
      </p:sp>
      <p:sp>
        <p:nvSpPr>
          <p:cNvPr id="7" name="Text 5"/>
          <p:cNvSpPr txBox="1"/>
          <p:nvPr/>
        </p:nvSpPr>
        <p:spPr>
          <a:xfrm>
            <a:off x="640080" y="2761488"/>
            <a:ext cx="10881360" cy="502920"/>
          </a:xfrm>
          <a:prstGeom prst="rect">
            <a:avLst/>
          </a:prstGeom>
          <a:noFill/>
          <a:ln/>
        </p:spPr>
        <p:txBody>
          <a:bodyPr wrap="square" lIns="0" tIns="0" rIns="0" bIns="0" rtlCol="0" anchor="ctr"/>
          <a:lstStyle/>
          <a:p>
            <a:pPr indent="0" marL="0">
              <a:lnSpc>
                <a:spcPct val="120000"/>
              </a:lnSpc>
              <a:buNone/>
            </a:pPr>
            <a:r>
              <a:rPr lang="en-US" sz="1200" dirty="0">
                <a:solidFill>
                  <a:srgbClr val="24273A"/>
                </a:solidFill>
                <a:latin typeface="Calibri" pitchFamily="34" charset="0"/>
                <a:ea typeface="Calibri" pitchFamily="34" charset="-122"/>
                <a:cs typeface="Calibri" pitchFamily="34" charset="-120"/>
              </a:rPr>
              <a:t>18 real questions were written first, anchored to what each role would actually ask — not to what would be interesting to build. Every suggested question in the app's UI is one of these test cases.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3429000"/>
          <a:ext cx="10927080" cy="914400"/>
        </p:xfrm>
        <a:graphic>
          <a:graphicData uri="http://schemas.openxmlformats.org/drawingml/2006/table">
            <a:tbl>
              <a:tblPr/>
              <a:tblGrid>
                <a:gridCol w="2331720"/>
                <a:gridCol w="5943600"/>
                <a:gridCol w="2651760"/>
              </a:tblGrid>
              <a:tr h="42062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Sample question</a:t>
                      </a:r>
                      <a:endParaRPr lang="en-US" sz="110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Expected behaviour</a:t>
                      </a:r>
                      <a:endParaRPr lang="en-US" sz="110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1E2761"/>
                    </a:solidFill>
                  </a:tcPr>
                </a:tc>
              </a:tr>
              <a:tr h="420624">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Business Owner</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Who are our top 5 vendors by PO value?</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read, with chart</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Procurement Owner</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Which POs are past their expected delivery date?</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read</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r>
              <a:tr h="420624">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Inventory Owner</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Which items are below their minimum stock level?</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read</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Procurement Owner</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Which teams were issued the most stock last month?</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blocked — not their table</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r>
              <a:tr h="420624">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Inventory Owner</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Set the minimum stock level of item BO-MC-0081 to 20</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write — needs confirmation</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Business Owner</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Hello!</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050" dirty="0">
                          <a:solidFill>
                            <a:srgbClr val="24273A"/>
                          </a:solidFill>
                          <a:latin typeface="Calibri" pitchFamily="34" charset="0"/>
                          <a:ea typeface="Calibri" pitchFamily="34" charset="-122"/>
                          <a:cs typeface="Calibri" pitchFamily="34" charset="-120"/>
                        </a:rPr>
                        <a:t>chat, no SQL</a:t>
                      </a:r>
                      <a:endParaRPr lang="en-US" sz="1050" dirty="0">
                        <a:latin typeface="Calibri" charset="0"/>
                        <a:ea typeface="Calibri" charset="0"/>
                        <a:cs typeface="Calibri" charset="0"/>
                      </a:endParaRPr>
                    </a:p>
                  </a:txBody>
                  <a:tcPr marL="101600" marR="101600" marT="50800" marB="508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r>
            </a:tbl>
          </a:graphicData>
        </a:graphic>
      </p:graphicFrame>
      <p:sp>
        <p:nvSpPr>
          <p:cNvPr id="9" name="Text 6"/>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39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10" name="Text 7"/>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39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A93C"/>
                </a:solidFill>
                <a:latin typeface="Calibri" pitchFamily="34" charset="0"/>
                <a:ea typeface="Calibri" pitchFamily="34" charset="-122"/>
                <a:cs typeface="Calibri" pitchFamily="34" charset="-120"/>
              </a:rPr>
              <a:t>BUILD STEP 2 OF 7</a:t>
            </a:r>
            <a:endParaRPr lang="en-US" sz="1200" dirty="0"/>
          </a:p>
        </p:txBody>
      </p:sp>
      <p:sp>
        <p:nvSpPr>
          <p:cNvPr id="3" name="Text 1"/>
          <p:cNvSpPr txBox="1"/>
          <p:nvPr/>
        </p:nvSpPr>
        <p:spPr>
          <a:xfrm>
            <a:off x="640080" y="749808"/>
            <a:ext cx="1051560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Ground the model in the real schema</a:t>
            </a:r>
            <a:endParaRPr lang="en-US" sz="3200" dirty="0"/>
          </a:p>
        </p:txBody>
      </p:sp>
      <p:sp>
        <p:nvSpPr>
          <p:cNvPr id="4" name="Shape 2"/>
          <p:cNvSpPr/>
          <p:nvPr/>
        </p:nvSpPr>
        <p:spPr>
          <a:xfrm>
            <a:off x="640080" y="1828800"/>
            <a:ext cx="384048" cy="384048"/>
          </a:xfrm>
          <a:prstGeom prst="ellipse">
            <a:avLst/>
          </a:prstGeom>
          <a:solidFill>
            <a:srgbClr val="1E2761"/>
          </a:solidFill>
          <a:ln/>
        </p:spPr>
      </p:sp>
      <p:sp>
        <p:nvSpPr>
          <p:cNvPr id="5" name="Text 3"/>
          <p:cNvSpPr txBox="1"/>
          <p:nvPr/>
        </p:nvSpPr>
        <p:spPr>
          <a:xfrm>
            <a:off x="640080" y="1828800"/>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1</a:t>
            </a:r>
            <a:endParaRPr lang="en-US" sz="1386" dirty="0"/>
          </a:p>
        </p:txBody>
      </p:sp>
      <p:sp>
        <p:nvSpPr>
          <p:cNvPr id="6" name="Text 4"/>
          <p:cNvSpPr txBox="1"/>
          <p:nvPr/>
        </p:nvSpPr>
        <p:spPr>
          <a:xfrm>
            <a:off x="1207008" y="1792224"/>
            <a:ext cx="491947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The tables aren't tidy</a:t>
            </a:r>
            <a:endParaRPr lang="en-US" sz="1400" dirty="0"/>
          </a:p>
        </p:txBody>
      </p:sp>
      <p:sp>
        <p:nvSpPr>
          <p:cNvPr id="7" name="Text 5"/>
          <p:cNvSpPr txBox="1"/>
          <p:nvPr/>
        </p:nvSpPr>
        <p:spPr>
          <a:xfrm>
            <a:off x="1207008" y="2084832"/>
            <a:ext cx="491947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Not normalised, and some columns are messy — the model can't be left to guess what they mean.</a:t>
            </a:r>
            <a:endParaRPr lang="en-US" sz="1150" dirty="0"/>
          </a:p>
        </p:txBody>
      </p:sp>
      <p:sp>
        <p:nvSpPr>
          <p:cNvPr id="8" name="Shape 6"/>
          <p:cNvSpPr/>
          <p:nvPr/>
        </p:nvSpPr>
        <p:spPr>
          <a:xfrm>
            <a:off x="640080" y="2852928"/>
            <a:ext cx="384048" cy="384048"/>
          </a:xfrm>
          <a:prstGeom prst="ellipse">
            <a:avLst/>
          </a:prstGeom>
          <a:solidFill>
            <a:srgbClr val="1E2761"/>
          </a:solidFill>
          <a:ln/>
        </p:spPr>
      </p:sp>
      <p:sp>
        <p:nvSpPr>
          <p:cNvPr id="9" name="Text 7"/>
          <p:cNvSpPr txBox="1"/>
          <p:nvPr/>
        </p:nvSpPr>
        <p:spPr>
          <a:xfrm>
            <a:off x="640080" y="2852928"/>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2</a:t>
            </a:r>
            <a:endParaRPr lang="en-US" sz="1386" dirty="0"/>
          </a:p>
        </p:txBody>
      </p:sp>
      <p:sp>
        <p:nvSpPr>
          <p:cNvPr id="10" name="Text 8"/>
          <p:cNvSpPr txBox="1"/>
          <p:nvPr/>
        </p:nvSpPr>
        <p:spPr>
          <a:xfrm>
            <a:off x="1207008" y="2816352"/>
            <a:ext cx="491947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Sign conventions matter</a:t>
            </a:r>
            <a:endParaRPr lang="en-US" sz="1400" dirty="0"/>
          </a:p>
        </p:txBody>
      </p:sp>
      <p:sp>
        <p:nvSpPr>
          <p:cNvPr id="11" name="Text 9"/>
          <p:cNvSpPr txBox="1"/>
          <p:nvPr/>
        </p:nvSpPr>
        <p:spPr>
          <a:xfrm>
            <a:off x="1207008" y="3108960"/>
            <a:ext cx="491947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inv_transactions.quantity is positive for inbound, negative for outbound. Get that wrong and every stock total is wrong.</a:t>
            </a:r>
            <a:endParaRPr lang="en-US" sz="1150" dirty="0"/>
          </a:p>
        </p:txBody>
      </p:sp>
      <p:sp>
        <p:nvSpPr>
          <p:cNvPr id="12" name="Shape 10"/>
          <p:cNvSpPr/>
          <p:nvPr/>
        </p:nvSpPr>
        <p:spPr>
          <a:xfrm>
            <a:off x="640080" y="3877056"/>
            <a:ext cx="384048" cy="384048"/>
          </a:xfrm>
          <a:prstGeom prst="ellipse">
            <a:avLst/>
          </a:prstGeom>
          <a:solidFill>
            <a:srgbClr val="1E2761"/>
          </a:solidFill>
          <a:ln/>
        </p:spPr>
      </p:sp>
      <p:sp>
        <p:nvSpPr>
          <p:cNvPr id="13" name="Text 11"/>
          <p:cNvSpPr txBox="1"/>
          <p:nvPr/>
        </p:nvSpPr>
        <p:spPr>
          <a:xfrm>
            <a:off x="640080" y="3877056"/>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3</a:t>
            </a:r>
            <a:endParaRPr lang="en-US" sz="1386" dirty="0"/>
          </a:p>
        </p:txBody>
      </p:sp>
      <p:sp>
        <p:nvSpPr>
          <p:cNvPr id="14" name="Text 12"/>
          <p:cNvSpPr txBox="1"/>
          <p:nvPr/>
        </p:nvSpPr>
        <p:spPr>
          <a:xfrm>
            <a:off x="1207008" y="3840480"/>
            <a:ext cx="491947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Dates hide in JSON arrays</a:t>
            </a:r>
            <a:endParaRPr lang="en-US" sz="1400" dirty="0"/>
          </a:p>
        </p:txBody>
      </p:sp>
      <p:sp>
        <p:nvSpPr>
          <p:cNvPr id="15" name="Text 13"/>
          <p:cNvSpPr txBox="1"/>
          <p:nvPr/>
        </p:nvSpPr>
        <p:spPr>
          <a:xfrm>
            <a:off x="1207008" y="4133088"/>
            <a:ext cx="491947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expected_delivery_date is a JSON array of strings, not a plain date column.</a:t>
            </a:r>
            <a:endParaRPr lang="en-US" sz="1150" dirty="0"/>
          </a:p>
        </p:txBody>
      </p:sp>
      <p:sp>
        <p:nvSpPr>
          <p:cNvPr id="16" name="Shape 14"/>
          <p:cNvSpPr/>
          <p:nvPr/>
        </p:nvSpPr>
        <p:spPr>
          <a:xfrm>
            <a:off x="640080" y="4901184"/>
            <a:ext cx="384048" cy="384048"/>
          </a:xfrm>
          <a:prstGeom prst="ellipse">
            <a:avLst/>
          </a:prstGeom>
          <a:solidFill>
            <a:srgbClr val="1E2761"/>
          </a:solidFill>
          <a:ln/>
        </p:spPr>
      </p:sp>
      <p:sp>
        <p:nvSpPr>
          <p:cNvPr id="17" name="Text 15"/>
          <p:cNvSpPr txBox="1"/>
          <p:nvPr/>
        </p:nvSpPr>
        <p:spPr>
          <a:xfrm>
            <a:off x="640080" y="4901184"/>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4</a:t>
            </a:r>
            <a:endParaRPr lang="en-US" sz="1386" dirty="0"/>
          </a:p>
        </p:txBody>
      </p:sp>
      <p:sp>
        <p:nvSpPr>
          <p:cNvPr id="18" name="Text 16"/>
          <p:cNvSpPr txBox="1"/>
          <p:nvPr/>
        </p:nvSpPr>
        <p:spPr>
          <a:xfrm>
            <a:off x="1207008" y="4864608"/>
            <a:ext cx="491947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Business rules aren't in the columns</a:t>
            </a:r>
            <a:endParaRPr lang="en-US" sz="1400" dirty="0"/>
          </a:p>
        </p:txBody>
      </p:sp>
      <p:sp>
        <p:nvSpPr>
          <p:cNvPr id="19" name="Text 17"/>
          <p:cNvSpPr txBox="1"/>
          <p:nvPr/>
        </p:nvSpPr>
        <p:spPr>
          <a:xfrm>
            <a:off x="1207008" y="5157216"/>
            <a:ext cx="491947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“Open PO” means status IN ('placed','partial') — that's domain knowledge, not schema.</a:t>
            </a:r>
            <a:endParaRPr lang="en-US" sz="1150" dirty="0"/>
          </a:p>
        </p:txBody>
      </p:sp>
      <p:sp>
        <p:nvSpPr>
          <p:cNvPr id="20" name="Shape 18"/>
          <p:cNvSpPr/>
          <p:nvPr/>
        </p:nvSpPr>
        <p:spPr>
          <a:xfrm>
            <a:off x="6446520" y="1783080"/>
            <a:ext cx="5120640" cy="4023360"/>
          </a:xfrm>
          <a:prstGeom prst="roundRect">
            <a:avLst>
              <a:gd name="adj" fmla="val 1591"/>
            </a:avLst>
          </a:prstGeom>
          <a:solidFill>
            <a:srgbClr val="141A47"/>
          </a:solidFill>
          <a:ln/>
        </p:spPr>
      </p:sp>
      <p:sp>
        <p:nvSpPr>
          <p:cNvPr id="21" name="Text 19"/>
          <p:cNvSpPr txBox="1"/>
          <p:nvPr/>
        </p:nvSpPr>
        <p:spPr>
          <a:xfrm>
            <a:off x="6647688" y="1947672"/>
            <a:ext cx="4718304" cy="3694176"/>
          </a:xfrm>
          <a:prstGeom prst="rect">
            <a:avLst/>
          </a:prstGeom>
          <a:noFill/>
          <a:ln/>
        </p:spPr>
        <p:txBody>
          <a:bodyPr wrap="square" lIns="0" tIns="0" rIns="0" bIns="0" rtlCol="0" anchor="t"/>
          <a:lstStyle/>
          <a:p>
            <a:pPr indent="0" marL="0">
              <a:lnSpc>
                <a:spcPct val="118000"/>
              </a:lnSpc>
              <a:buNone/>
            </a:pPr>
            <a:r>
              <a:rPr lang="en-US" sz="1030" dirty="0">
                <a:solidFill>
                  <a:srgbClr val="CADCFC"/>
                </a:solidFill>
                <a:latin typeface="Consolas" pitchFamily="34" charset="0"/>
                <a:ea typeface="Consolas" pitchFamily="34" charset="-122"/>
                <a:cs typeface="Consolas" pitchFamily="34" charset="-120"/>
              </a:rPr>
              <a:t># backend/schema.py</a:t>
            </a:r>
            <a:endParaRPr lang="en-US" sz="1030" dirty="0"/>
          </a:p>
          <a:p>
            <a:pPr indent="0" marL="0">
              <a:lnSpc>
                <a:spcPct val="118000"/>
              </a:lnSpc>
              <a:buNone/>
            </a:pPr>
            <a:endParaRPr lang="en-US" sz="1030" dirty="0"/>
          </a:p>
          <a:p>
            <a:pPr indent="0" marL="0">
              <a:lnSpc>
                <a:spcPct val="118000"/>
              </a:lnSpc>
              <a:buNone/>
            </a:pPr>
            <a:r>
              <a:rPr lang="en-US" sz="1030" dirty="0">
                <a:solidFill>
                  <a:srgbClr val="CADCFC"/>
                </a:solidFill>
                <a:latin typeface="Consolas" pitchFamily="34" charset="0"/>
                <a:ea typeface="Consolas" pitchFamily="34" charset="-122"/>
                <a:cs typeface="Consolas" pitchFamily="34" charset="-120"/>
              </a:rPr>
              <a:t>- inv_transactions(..., transaction_type,</a:t>
            </a:r>
            <a:endParaRPr lang="en-US" sz="1030" dirty="0"/>
          </a:p>
          <a:p>
            <a:pPr indent="0" marL="0">
              <a:lnSpc>
                <a:spcPct val="118000"/>
              </a:lnSpc>
              <a:buNone/>
            </a:pPr>
            <a:r>
              <a:rPr lang="en-US" sz="1030" dirty="0">
                <a:solidFill>
                  <a:srgbClr val="CADCFC"/>
                </a:solidFill>
                <a:latin typeface="Consolas" pitchFamily="34" charset="0"/>
                <a:ea typeface="Consolas" pitchFamily="34" charset="-122"/>
                <a:cs typeface="Consolas" pitchFamily="34" charset="-120"/>
              </a:rPr>
              <a:t>  quantity, ...)</a:t>
            </a:r>
            <a:endParaRPr lang="en-US" sz="1030" dirty="0"/>
          </a:p>
          <a:p>
            <a:pPr indent="0" marL="0">
              <a:lnSpc>
                <a:spcPct val="118000"/>
              </a:lnSpc>
              <a:buNone/>
            </a:pPr>
            <a:r>
              <a:rPr lang="en-US" sz="1030" dirty="0">
                <a:solidFill>
                  <a:srgbClr val="CADCFC"/>
                </a:solidFill>
                <a:latin typeface="Consolas" pitchFamily="34" charset="0"/>
                <a:ea typeface="Consolas" pitchFamily="34" charset="-122"/>
                <a:cs typeface="Consolas" pitchFamily="34" charset="-120"/>
              </a:rPr>
              <a:t>  quantity is POSITIVE for inbound /</a:t>
            </a:r>
            <a:endParaRPr lang="en-US" sz="1030" dirty="0"/>
          </a:p>
          <a:p>
            <a:pPr indent="0" marL="0">
              <a:lnSpc>
                <a:spcPct val="118000"/>
              </a:lnSpc>
              <a:buNone/>
            </a:pPr>
            <a:r>
              <a:rPr lang="en-US" sz="1030" dirty="0">
                <a:solidFill>
                  <a:srgbClr val="CADCFC"/>
                </a:solidFill>
                <a:latin typeface="Consolas" pitchFamily="34" charset="0"/>
                <a:ea typeface="Consolas" pitchFamily="34" charset="-122"/>
                <a:cs typeface="Consolas" pitchFamily="34" charset="-120"/>
              </a:rPr>
              <a:t>  transfer_in and NEGATIVE for outbound.</a:t>
            </a:r>
            <a:endParaRPr lang="en-US" sz="1030" dirty="0"/>
          </a:p>
          <a:p>
            <a:pPr indent="0" marL="0">
              <a:lnSpc>
                <a:spcPct val="118000"/>
              </a:lnSpc>
              <a:buNone/>
            </a:pPr>
            <a:r>
              <a:rPr lang="en-US" sz="1030" dirty="0">
                <a:solidFill>
                  <a:srgbClr val="CADCFC"/>
                </a:solidFill>
                <a:latin typeface="Consolas" pitchFamily="34" charset="0"/>
                <a:ea typeface="Consolas" pitchFamily="34" charset="-122"/>
                <a:cs typeface="Consolas" pitchFamily="34" charset="-120"/>
              </a:rPr>
              <a:t>  Use ABS(quantity) for movement volume,</a:t>
            </a:r>
            <a:endParaRPr lang="en-US" sz="1030" dirty="0"/>
          </a:p>
          <a:p>
            <a:pPr indent="0" marL="0">
              <a:lnSpc>
                <a:spcPct val="118000"/>
              </a:lnSpc>
              <a:buNone/>
            </a:pPr>
            <a:r>
              <a:rPr lang="en-US" sz="1030" dirty="0">
                <a:solidFill>
                  <a:srgbClr val="CADCFC"/>
                </a:solidFill>
                <a:latin typeface="Consolas" pitchFamily="34" charset="0"/>
                <a:ea typeface="Consolas" pitchFamily="34" charset="-122"/>
                <a:cs typeface="Consolas" pitchFamily="34" charset="-120"/>
              </a:rPr>
              <a:t>  SUM(quantity) for net change.</a:t>
            </a:r>
            <a:endParaRPr lang="en-US" sz="1030" dirty="0"/>
          </a:p>
          <a:p>
            <a:pPr indent="0" marL="0">
              <a:lnSpc>
                <a:spcPct val="118000"/>
              </a:lnSpc>
              <a:buNone/>
            </a:pPr>
            <a:endParaRPr lang="en-US" sz="1030" dirty="0"/>
          </a:p>
          <a:p>
            <a:pPr indent="0" marL="0">
              <a:lnSpc>
                <a:spcPct val="118000"/>
              </a:lnSpc>
              <a:buNone/>
            </a:pPr>
            <a:r>
              <a:rPr lang="en-US" sz="1030" dirty="0">
                <a:solidFill>
                  <a:srgbClr val="CADCFC"/>
                </a:solidFill>
                <a:latin typeface="Consolas" pitchFamily="34" charset="0"/>
                <a:ea typeface="Consolas" pitchFamily="34" charset="-122"/>
                <a:cs typeface="Consolas" pitchFamily="34" charset="-120"/>
              </a:rPr>
              <a:t>- proc_purchase_orders(..., status, ...)</a:t>
            </a:r>
            <a:endParaRPr lang="en-US" sz="1030" dirty="0"/>
          </a:p>
          <a:p>
            <a:pPr indent="0" marL="0">
              <a:lnSpc>
                <a:spcPct val="118000"/>
              </a:lnSpc>
              <a:buNone/>
            </a:pPr>
            <a:r>
              <a:rPr lang="en-US" sz="1030" dirty="0">
                <a:solidFill>
                  <a:srgbClr val="CADCFC"/>
                </a:solidFill>
                <a:latin typeface="Consolas" pitchFamily="34" charset="0"/>
                <a:ea typeface="Consolas" pitchFamily="34" charset="-122"/>
                <a:cs typeface="Consolas" pitchFamily="34" charset="-120"/>
              </a:rPr>
              <a:t>  status: placed | partial | received</a:t>
            </a:r>
            <a:endParaRPr lang="en-US" sz="1030" dirty="0"/>
          </a:p>
          <a:p>
            <a:pPr indent="0" marL="0">
              <a:lnSpc>
                <a:spcPct val="118000"/>
              </a:lnSpc>
              <a:buNone/>
            </a:pPr>
            <a:r>
              <a:rPr lang="en-US" sz="1030" dirty="0">
                <a:solidFill>
                  <a:srgbClr val="CADCFC"/>
                </a:solidFill>
                <a:latin typeface="Consolas" pitchFamily="34" charset="0"/>
                <a:ea typeface="Consolas" pitchFamily="34" charset="-122"/>
                <a:cs typeface="Consolas" pitchFamily="34" charset="-120"/>
              </a:rPr>
              <a:t>  "Open" = status IN</a:t>
            </a:r>
            <a:endParaRPr lang="en-US" sz="1030" dirty="0"/>
          </a:p>
          <a:p>
            <a:pPr indent="0" marL="0">
              <a:lnSpc>
                <a:spcPct val="118000"/>
              </a:lnSpc>
              <a:buNone/>
            </a:pPr>
            <a:r>
              <a:rPr lang="en-US" sz="1030" dirty="0">
                <a:solidFill>
                  <a:srgbClr val="CADCFC"/>
                </a:solidFill>
                <a:latin typeface="Consolas" pitchFamily="34" charset="0"/>
                <a:ea typeface="Consolas" pitchFamily="34" charset="-122"/>
                <a:cs typeface="Consolas" pitchFamily="34" charset="-120"/>
              </a:rPr>
              <a:t>  ('placed', 'partial')</a:t>
            </a:r>
            <a:endParaRPr lang="en-US" sz="1030" dirty="0"/>
          </a:p>
          <a:p>
            <a:pPr indent="0" marL="0">
              <a:lnSpc>
                <a:spcPct val="118000"/>
              </a:lnSpc>
              <a:buNone/>
            </a:pPr>
            <a:endParaRPr lang="en-US" sz="1030" dirty="0"/>
          </a:p>
          <a:p>
            <a:pPr indent="0" marL="0">
              <a:lnSpc>
                <a:spcPct val="118000"/>
              </a:lnSpc>
              <a:buNone/>
            </a:pPr>
            <a:r>
              <a:rPr lang="en-US" sz="1030" dirty="0">
                <a:solidFill>
                  <a:srgbClr val="CADCFC"/>
                </a:solidFill>
                <a:latin typeface="Consolas" pitchFamily="34" charset="0"/>
                <a:ea typeface="Consolas" pitchFamily="34" charset="-122"/>
                <a:cs typeface="Consolas" pitchFamily="34" charset="-120"/>
              </a:rPr>
              <a:t>- expected_delivery_date is a JSON array,</a:t>
            </a:r>
            <a:endParaRPr lang="en-US" sz="1030" dirty="0"/>
          </a:p>
          <a:p>
            <a:pPr indent="0" marL="0">
              <a:lnSpc>
                <a:spcPct val="118000"/>
              </a:lnSpc>
              <a:buNone/>
            </a:pPr>
            <a:r>
              <a:rPr lang="en-US" sz="1030" dirty="0">
                <a:solidFill>
                  <a:srgbClr val="CADCFC"/>
                </a:solidFill>
                <a:latin typeface="Consolas" pitchFamily="34" charset="0"/>
                <a:ea typeface="Consolas" pitchFamily="34" charset="-122"/>
                <a:cs typeface="Consolas" pitchFamily="34" charset="-120"/>
              </a:rPr>
              <a:t>  e.g. ["2026-08-13"]. Use</a:t>
            </a:r>
            <a:endParaRPr lang="en-US" sz="1030" dirty="0"/>
          </a:p>
          <a:p>
            <a:pPr indent="0" marL="0">
              <a:lnSpc>
                <a:spcPct val="118000"/>
              </a:lnSpc>
              <a:buNone/>
            </a:pPr>
            <a:r>
              <a:rPr lang="en-US" sz="1030" dirty="0">
                <a:solidFill>
                  <a:srgbClr val="CADCFC"/>
                </a:solidFill>
                <a:latin typeface="Consolas" pitchFamily="34" charset="0"/>
                <a:ea typeface="Consolas" pitchFamily="34" charset="-122"/>
                <a:cs typeface="Consolas" pitchFamily="34" charset="-120"/>
              </a:rPr>
              <a:t>  (expected_delivery_date-&gt;&gt;0)::date</a:t>
            </a:r>
            <a:endParaRPr lang="en-US" sz="1030" dirty="0"/>
          </a:p>
        </p:txBody>
      </p:sp>
      <p:sp>
        <p:nvSpPr>
          <p:cNvPr id="22" name="Text 20"/>
          <p:cNvSpPr txBox="1"/>
          <p:nvPr/>
        </p:nvSpPr>
        <p:spPr>
          <a:xfrm>
            <a:off x="640080" y="6053328"/>
            <a:ext cx="10881360" cy="365760"/>
          </a:xfrm>
          <a:prstGeom prst="rect">
            <a:avLst/>
          </a:prstGeom>
          <a:noFill/>
          <a:ln/>
        </p:spPr>
        <p:txBody>
          <a:bodyPr wrap="square" lIns="0" tIns="0" rIns="0" bIns="0" rtlCol="0" anchor="ctr"/>
          <a:lstStyle/>
          <a:p>
            <a:pPr indent="0" marL="0">
              <a:buNone/>
            </a:pPr>
            <a:r>
              <a:rPr lang="en-US" sz="1100" i="1" dirty="0">
                <a:solidFill>
                  <a:srgbClr val="6B7390"/>
                </a:solidFill>
                <a:latin typeface="Calibri" pitchFamily="34" charset="0"/>
                <a:ea typeface="Calibri" pitchFamily="34" charset="-122"/>
                <a:cs typeface="Calibri" pitchFamily="34" charset="-120"/>
              </a:rPr>
              <a:t>This hand-written note is prepended to every prompt — it's the difference between a model that guesses and one that's actually right.</a:t>
            </a:r>
            <a:endParaRPr lang="en-US" sz="1100" dirty="0"/>
          </a:p>
        </p:txBody>
      </p:sp>
      <p:sp>
        <p:nvSpPr>
          <p:cNvPr id="23" name="Text 21"/>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39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24" name="Text 22"/>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39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A93C"/>
                </a:solidFill>
                <a:latin typeface="Calibri" pitchFamily="34" charset="0"/>
                <a:ea typeface="Calibri" pitchFamily="34" charset="-122"/>
                <a:cs typeface="Calibri" pitchFamily="34" charset="-120"/>
              </a:rPr>
              <a:t>BUILD STEP 3 OF 7</a:t>
            </a:r>
            <a:endParaRPr lang="en-US" sz="1200" dirty="0"/>
          </a:p>
        </p:txBody>
      </p:sp>
      <p:sp>
        <p:nvSpPr>
          <p:cNvPr id="3" name="Text 1"/>
          <p:cNvSpPr txBox="1"/>
          <p:nvPr/>
        </p:nvSpPr>
        <p:spPr>
          <a:xfrm>
            <a:off x="640080" y="749808"/>
            <a:ext cx="1051560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Decide who can see and change what</a:t>
            </a:r>
            <a:endParaRPr lang="en-US" sz="3200" dirty="0"/>
          </a:p>
        </p:txBody>
      </p:sp>
      <p:sp>
        <p:nvSpPr>
          <p:cNvPr id="4" name="Text 2"/>
          <p:cNvSpPr txBox="1"/>
          <p:nvPr/>
        </p:nvSpPr>
        <p:spPr>
          <a:xfrm>
            <a:off x="640080" y="1536192"/>
            <a:ext cx="10881360" cy="365760"/>
          </a:xfrm>
          <a:prstGeom prst="rect">
            <a:avLst/>
          </a:prstGeom>
          <a:noFill/>
          <a:ln/>
        </p:spPr>
        <p:txBody>
          <a:bodyPr wrap="square" lIns="0" tIns="0" rIns="0" bIns="0" rtlCol="0" anchor="ctr"/>
          <a:lstStyle/>
          <a:p>
            <a:pPr indent="0" marL="0">
              <a:buNone/>
            </a:pPr>
            <a:r>
              <a:rPr lang="en-US" sz="1200" dirty="0">
                <a:solidFill>
                  <a:srgbClr val="24273A"/>
                </a:solidFill>
                <a:latin typeface="Calibri" pitchFamily="34" charset="0"/>
                <a:ea typeface="Calibri" pitchFamily="34" charset="-122"/>
                <a:cs typeface="Calibri" pitchFamily="34" charset="-120"/>
              </a:rPr>
              <a:t>Access is enforced per table, not per column — and it mirrors the real approval → PO → delivery → inventory chain.</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927080" cy="914400"/>
        </p:xfrm>
        <a:graphic>
          <a:graphicData uri="http://schemas.openxmlformats.org/drawingml/2006/table">
            <a:tbl>
              <a:tblPr/>
              <a:tblGrid>
                <a:gridCol w="2103120"/>
                <a:gridCol w="3657600"/>
                <a:gridCol w="2331720"/>
                <a:gridCol w="2834640"/>
              </a:tblGrid>
              <a:tr h="42062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Can read</a:t>
                      </a:r>
                      <a:endParaRPr lang="en-US" sz="115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Can write</a:t>
                      </a:r>
                      <a:endParaRPr lang="en-US" sz="115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Cannot see</a:t>
                      </a:r>
                      <a:endParaRPr lang="en-US" sz="115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1E2761"/>
                    </a:solidFill>
                  </a:tcPr>
                </a:tc>
              </a:tr>
              <a:tr h="914400">
                <a:tc>
                  <a:txBody>
                    <a:bodyPr/>
                    <a:lstStyle/>
                    <a:p>
                      <a:pPr indent="0" marL="0">
                        <a:buNone/>
                      </a:pPr>
                      <a:r>
                        <a:rPr lang="en-US" sz="1100" dirty="0">
                          <a:solidFill>
                            <a:srgbClr val="24273A"/>
                          </a:solidFill>
                          <a:latin typeface="Calibri" pitchFamily="34" charset="0"/>
                          <a:ea typeface="Calibri" pitchFamily="34" charset="-122"/>
                          <a:cs typeface="Calibri" pitchFamily="34" charset="-120"/>
                        </a:rPr>
                        <a:t>Business Owner</a:t>
                      </a:r>
                      <a:endParaRPr lang="en-US" sz="110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100" dirty="0">
                          <a:solidFill>
                            <a:srgbClr val="24273A"/>
                          </a:solidFill>
                          <a:latin typeface="Calibri" pitchFamily="34" charset="0"/>
                          <a:ea typeface="Calibri" pitchFamily="34" charset="-122"/>
                          <a:cs typeface="Calibri" pitchFamily="34" charset="-120"/>
                        </a:rPr>
                        <a:t>Everything — spend, vendors, payments, stock</a:t>
                      </a:r>
                      <a:endParaRPr lang="en-US" sz="110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100" dirty="0">
                          <a:solidFill>
                            <a:srgbClr val="24273A"/>
                          </a:solidFill>
                          <a:latin typeface="Calibri" pitchFamily="34" charset="0"/>
                          <a:ea typeface="Calibri" pitchFamily="34" charset="-122"/>
                          <a:cs typeface="Calibri" pitchFamily="34" charset="-120"/>
                        </a:rPr>
                        <a:t>Stock thresholds, vendor list</a:t>
                      </a:r>
                      <a:endParaRPr lang="en-US" sz="110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100" dirty="0">
                          <a:solidFill>
                            <a:srgbClr val="24273A"/>
                          </a:solidFill>
                          <a:latin typeface="Calibri" pitchFamily="34" charset="0"/>
                          <a:ea typeface="Calibri" pitchFamily="34" charset="-122"/>
                          <a:cs typeface="Calibri" pitchFamily="34" charset="-120"/>
                        </a:rPr>
                        <a:t>— sees it all</a:t>
                      </a:r>
                      <a:endParaRPr lang="en-US" sz="110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r>
              <a:tr h="914400">
                <a:tc>
                  <a:txBody>
                    <a:bodyPr/>
                    <a:lstStyle/>
                    <a:p>
                      <a:pPr indent="0" marL="0">
                        <a:buNone/>
                      </a:pPr>
                      <a:r>
                        <a:rPr lang="en-US" sz="1100" dirty="0">
                          <a:solidFill>
                            <a:srgbClr val="24273A"/>
                          </a:solidFill>
                          <a:latin typeface="Calibri" pitchFamily="34" charset="0"/>
                          <a:ea typeface="Calibri" pitchFamily="34" charset="-122"/>
                          <a:cs typeface="Calibri" pitchFamily="34" charset="-120"/>
                        </a:rPr>
                        <a:t>Procurement Owner</a:t>
                      </a:r>
                      <a:endParaRPr lang="en-US" sz="110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100" dirty="0">
                          <a:solidFill>
                            <a:srgbClr val="24273A"/>
                          </a:solidFill>
                          <a:latin typeface="Calibri" pitchFamily="34" charset="0"/>
                          <a:ea typeface="Calibri" pitchFamily="34" charset="-122"/>
                          <a:cs typeface="Calibri" pitchFamily="34" charset="-120"/>
                        </a:rPr>
                        <a:t>PO / vendor tables, plus items &amp; current stock for reorder decisions</a:t>
                      </a:r>
                      <a:endParaRPr lang="en-US" sz="110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100" dirty="0">
                          <a:solidFill>
                            <a:srgbClr val="24273A"/>
                          </a:solidFill>
                          <a:latin typeface="Calibri" pitchFamily="34" charset="0"/>
                          <a:ea typeface="Calibri" pitchFamily="34" charset="-122"/>
                          <a:cs typeface="Calibri" pitchFamily="34" charset="-120"/>
                        </a:rPr>
                        <a:t>Vendor list</a:t>
                      </a:r>
                      <a:endParaRPr lang="en-US" sz="110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1100" dirty="0">
                          <a:solidFill>
                            <a:srgbClr val="24273A"/>
                          </a:solidFill>
                          <a:latin typeface="Calibri" pitchFamily="34" charset="0"/>
                          <a:ea typeface="Calibri" pitchFamily="34" charset="-122"/>
                          <a:cs typeface="Calibri" pitchFamily="34" charset="-120"/>
                        </a:rPr>
                        <a:t>Detailed stock issue history</a:t>
                      </a:r>
                      <a:endParaRPr lang="en-US" sz="110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EEF3FC"/>
                    </a:solidFill>
                  </a:tcPr>
                </a:tc>
              </a:tr>
              <a:tr h="914400">
                <a:tc>
                  <a:txBody>
                    <a:bodyPr/>
                    <a:lstStyle/>
                    <a:p>
                      <a:pPr indent="0" marL="0">
                        <a:buNone/>
                      </a:pPr>
                      <a:r>
                        <a:rPr lang="en-US" sz="1100" dirty="0">
                          <a:solidFill>
                            <a:srgbClr val="24273A"/>
                          </a:solidFill>
                          <a:latin typeface="Calibri" pitchFamily="34" charset="0"/>
                          <a:ea typeface="Calibri" pitchFamily="34" charset="-122"/>
                          <a:cs typeface="Calibri" pitchFamily="34" charset="-120"/>
                        </a:rPr>
                        <a:t>Inventory Owner</a:t>
                      </a:r>
                      <a:endParaRPr lang="en-US" sz="110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100" dirty="0">
                          <a:solidFill>
                            <a:srgbClr val="24273A"/>
                          </a:solidFill>
                          <a:latin typeface="Calibri" pitchFamily="34" charset="0"/>
                          <a:ea typeface="Calibri" pitchFamily="34" charset="-122"/>
                          <a:cs typeface="Calibri" pitchFamily="34" charset="-120"/>
                        </a:rPr>
                        <a:t>Inventory tables, plus incoming POs &amp; receipts</a:t>
                      </a:r>
                      <a:endParaRPr lang="en-US" sz="110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100" dirty="0">
                          <a:solidFill>
                            <a:srgbClr val="24273A"/>
                          </a:solidFill>
                          <a:latin typeface="Calibri" pitchFamily="34" charset="0"/>
                          <a:ea typeface="Calibri" pitchFamily="34" charset="-122"/>
                          <a:cs typeface="Calibri" pitchFamily="34" charset="-120"/>
                        </a:rPr>
                        <a:t>Current stock levels</a:t>
                      </a:r>
                      <a:endParaRPr lang="en-US" sz="110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1100" dirty="0">
                          <a:solidFill>
                            <a:srgbClr val="24273A"/>
                          </a:solidFill>
                          <a:latin typeface="Calibri" pitchFamily="34" charset="0"/>
                          <a:ea typeface="Calibri" pitchFamily="34" charset="-122"/>
                          <a:cs typeface="Calibri" pitchFamily="34" charset="-120"/>
                        </a:rPr>
                        <a:t>Vendor details, payments</a:t>
                      </a:r>
                      <a:endParaRPr lang="en-US" sz="1100" dirty="0">
                        <a:latin typeface="Calibri" charset="0"/>
                        <a:ea typeface="Calibri" charset="0"/>
                        <a:cs typeface="Calibri" charset="0"/>
                      </a:endParaRPr>
                    </a:p>
                  </a:txBody>
                  <a:tcPr marL="127000" marR="127000" marT="76200" marB="76200" anchor="ctr">
                    <a:lnL w="9525" cap="flat" cmpd="sng" algn="ctr">
                      <a:solidFill>
                        <a:srgbClr val="D7DFF2"/>
                      </a:solidFill>
                      <a:prstDash val="solid"/>
                      <a:round/>
                      <a:headEnd type="none" w="med" len="med"/>
                      <a:tailEnd type="none" w="med" len="med"/>
                    </a:lnL>
                    <a:lnR w="9525" cap="flat" cmpd="sng" algn="ctr">
                      <a:solidFill>
                        <a:srgbClr val="D7DFF2"/>
                      </a:solidFill>
                      <a:prstDash val="solid"/>
                      <a:round/>
                      <a:headEnd type="none" w="med" len="med"/>
                      <a:tailEnd type="none" w="med" len="med"/>
                    </a:lnR>
                    <a:lnT w="9525" cap="flat" cmpd="sng" algn="ctr">
                      <a:solidFill>
                        <a:srgbClr val="D7DFF2"/>
                      </a:solidFill>
                      <a:prstDash val="solid"/>
                      <a:round/>
                      <a:headEnd type="none" w="med" len="med"/>
                      <a:tailEnd type="none" w="med" len="med"/>
                    </a:lnT>
                    <a:lnB w="9525" cap="flat" cmpd="sng" algn="ctr">
                      <a:solidFill>
                        <a:srgbClr val="D7DFF2"/>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5669280"/>
            <a:ext cx="10927080" cy="777240"/>
          </a:xfrm>
          <a:prstGeom prst="roundRect">
            <a:avLst>
              <a:gd name="adj" fmla="val 9412"/>
            </a:avLst>
          </a:prstGeom>
          <a:solidFill>
            <a:srgbClr val="EEF3FC"/>
          </a:solidFill>
          <a:ln/>
          <a:effectLst>
            <a:outerShdw sx="100000" sy="100000" kx="0" ky="0" algn="bl" rotWithShape="0" blurRad="76200" dist="25400" dir="5400000">
              <a:srgbClr val="8B93B8">
                <a:alpha val="18000"/>
              </a:srgbClr>
            </a:outerShdw>
          </a:effectLst>
        </p:spPr>
      </p:sp>
      <p:sp>
        <p:nvSpPr>
          <p:cNvPr id="7" name="Text 4"/>
          <p:cNvSpPr txBox="1"/>
          <p:nvPr/>
        </p:nvSpPr>
        <p:spPr>
          <a:xfrm>
            <a:off x="914400" y="5669280"/>
            <a:ext cx="10378440" cy="777240"/>
          </a:xfrm>
          <a:prstGeom prst="rect">
            <a:avLst/>
          </a:prstGeom>
          <a:noFill/>
          <a:ln/>
        </p:spPr>
        <p:txBody>
          <a:bodyPr wrap="square" lIns="0" tIns="0" rIns="0" bIns="0" rtlCol="0" anchor="ctr"/>
          <a:lstStyle/>
          <a:p>
            <a:pPr indent="0" marL="0">
              <a:buNone/>
            </a:pPr>
            <a:r>
              <a:rPr lang="en-US" sz="1150" i="1" dirty="0">
                <a:solidFill>
                  <a:srgbClr val="24273A"/>
                </a:solidFill>
                <a:latin typeface="Calibri" pitchFamily="34" charset="0"/>
                <a:ea typeface="Calibri" pitchFamily="34" charset="-122"/>
                <a:cs typeface="Calibri" pitchFamily="34" charset="-120"/>
              </a:rPr>
              <a:t>Every SQL statement the agent writes is checked against this table before it runs — for both reads and writes.</a:t>
            </a:r>
            <a:endParaRPr lang="en-US" sz="1150" dirty="0"/>
          </a:p>
        </p:txBody>
      </p:sp>
      <p:sp>
        <p:nvSpPr>
          <p:cNvPr id="8" name="Text 5"/>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39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9" name="Text 6"/>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39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BUILD STEP 4 OF 7</a:t>
            </a:r>
            <a:endParaRPr lang="en-US" sz="1200" dirty="0"/>
          </a:p>
        </p:txBody>
      </p:sp>
      <p:sp>
        <p:nvSpPr>
          <p:cNvPr id="3" name="Text 1"/>
          <p:cNvSpPr txBox="1"/>
          <p:nvPr/>
        </p:nvSpPr>
        <p:spPr>
          <a:xfrm>
            <a:off x="640080" y="749808"/>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Build the agent as an explicit graph</a:t>
            </a:r>
            <a:endParaRPr lang="en-US" sz="3200" dirty="0"/>
          </a:p>
        </p:txBody>
      </p:sp>
      <p:sp>
        <p:nvSpPr>
          <p:cNvPr id="4" name="Shape 2"/>
          <p:cNvSpPr/>
          <p:nvPr/>
        </p:nvSpPr>
        <p:spPr>
          <a:xfrm>
            <a:off x="822960" y="1783080"/>
            <a:ext cx="5577840" cy="841248"/>
          </a:xfrm>
          <a:prstGeom prst="roundRect">
            <a:avLst>
              <a:gd name="adj" fmla="val 8696"/>
            </a:avLst>
          </a:prstGeom>
          <a:solidFill>
            <a:srgbClr val="2A3372"/>
          </a:solidFill>
          <a:ln/>
        </p:spPr>
      </p:sp>
      <p:sp>
        <p:nvSpPr>
          <p:cNvPr id="5" name="Text 3"/>
          <p:cNvSpPr txBox="1"/>
          <p:nvPr/>
        </p:nvSpPr>
        <p:spPr>
          <a:xfrm>
            <a:off x="1024128" y="1874520"/>
            <a:ext cx="5175504" cy="292608"/>
          </a:xfrm>
          <a:prstGeom prst="rect">
            <a:avLst/>
          </a:prstGeom>
          <a:noFill/>
          <a:ln/>
        </p:spPr>
        <p:txBody>
          <a:bodyPr wrap="square" lIns="0" tIns="0" rIns="0" bIns="0" rtlCol="0" anchor="ctr"/>
          <a:lstStyle/>
          <a:p>
            <a:pPr indent="0" marL="0">
              <a:buNone/>
            </a:pPr>
            <a:r>
              <a:rPr lang="en-US" sz="1400" b="1" dirty="0">
                <a:solidFill>
                  <a:srgbClr val="F2A93C"/>
                </a:solidFill>
                <a:latin typeface="Consolas" pitchFamily="34" charset="0"/>
                <a:ea typeface="Consolas" pitchFamily="34" charset="-122"/>
                <a:cs typeface="Consolas" pitchFamily="34" charset="-120"/>
              </a:rPr>
              <a:t>write_sql</a:t>
            </a:r>
            <a:endParaRPr lang="en-US" sz="1400" dirty="0"/>
          </a:p>
        </p:txBody>
      </p:sp>
      <p:sp>
        <p:nvSpPr>
          <p:cNvPr id="6" name="Text 4"/>
          <p:cNvSpPr txBox="1"/>
          <p:nvPr/>
        </p:nvSpPr>
        <p:spPr>
          <a:xfrm>
            <a:off x="1024128" y="2203704"/>
            <a:ext cx="5175504" cy="365760"/>
          </a:xfrm>
          <a:prstGeom prst="rect">
            <a:avLst/>
          </a:prstGeom>
          <a:noFill/>
          <a:ln/>
        </p:spPr>
        <p:txBody>
          <a:bodyPr wrap="square" lIns="0" tIns="0" rIns="0" bIns="0" rtlCol="0" anchor="ctr"/>
          <a:lstStyle/>
          <a:p>
            <a:pPr indent="0" marL="0">
              <a:lnSpc>
                <a:spcPct val="110000"/>
              </a:lnSpc>
              <a:buNone/>
            </a:pPr>
            <a:r>
              <a:rPr lang="en-US" sz="1050" dirty="0">
                <a:solidFill>
                  <a:srgbClr val="CADCFC"/>
                </a:solidFill>
                <a:latin typeface="Calibri" pitchFamily="34" charset="0"/>
                <a:ea typeface="Calibri" pitchFamily="34" charset="-122"/>
                <a:cs typeface="Calibri" pitchFamily="34" charset="-120"/>
              </a:rPr>
              <a:t>turn the question into ONE SQL statement (or a chat reply)</a:t>
            </a:r>
            <a:endParaRPr lang="en-US" sz="1050" dirty="0"/>
          </a:p>
        </p:txBody>
      </p:sp>
      <p:sp>
        <p:nvSpPr>
          <p:cNvPr id="7" name="Text 5"/>
          <p:cNvSpPr txBox="1"/>
          <p:nvPr/>
        </p:nvSpPr>
        <p:spPr>
          <a:xfrm>
            <a:off x="822960" y="2624328"/>
            <a:ext cx="5577840" cy="237744"/>
          </a:xfrm>
          <a:prstGeom prst="rect">
            <a:avLst/>
          </a:prstGeom>
          <a:noFill/>
          <a:ln/>
        </p:spPr>
        <p:txBody>
          <a:bodyPr wrap="square" lIns="0" tIns="0" rIns="0" bIns="0" rtlCol="0" anchor="ctr"/>
          <a:lstStyle/>
          <a:p>
            <a:pPr algn="ctr" indent="0" marL="0">
              <a:buNone/>
            </a:pPr>
            <a:r>
              <a:rPr lang="en-US" sz="1500" dirty="0">
                <a:solidFill>
                  <a:srgbClr val="8E97C4"/>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822960" y="2862072"/>
            <a:ext cx="5577840" cy="841248"/>
          </a:xfrm>
          <a:prstGeom prst="roundRect">
            <a:avLst>
              <a:gd name="adj" fmla="val 8696"/>
            </a:avLst>
          </a:prstGeom>
          <a:solidFill>
            <a:srgbClr val="2A3372"/>
          </a:solidFill>
          <a:ln/>
        </p:spPr>
      </p:sp>
      <p:sp>
        <p:nvSpPr>
          <p:cNvPr id="9" name="Text 7"/>
          <p:cNvSpPr txBox="1"/>
          <p:nvPr/>
        </p:nvSpPr>
        <p:spPr>
          <a:xfrm>
            <a:off x="1024128" y="2953512"/>
            <a:ext cx="5175504" cy="292608"/>
          </a:xfrm>
          <a:prstGeom prst="rect">
            <a:avLst/>
          </a:prstGeom>
          <a:noFill/>
          <a:ln/>
        </p:spPr>
        <p:txBody>
          <a:bodyPr wrap="square" lIns="0" tIns="0" rIns="0" bIns="0" rtlCol="0" anchor="ctr"/>
          <a:lstStyle/>
          <a:p>
            <a:pPr indent="0" marL="0">
              <a:buNone/>
            </a:pPr>
            <a:r>
              <a:rPr lang="en-US" sz="1400" b="1" dirty="0">
                <a:solidFill>
                  <a:srgbClr val="F2A93C"/>
                </a:solidFill>
                <a:latin typeface="Consolas" pitchFamily="34" charset="0"/>
                <a:ea typeface="Consolas" pitchFamily="34" charset="-122"/>
                <a:cs typeface="Consolas" pitchFamily="34" charset="-120"/>
              </a:rPr>
              <a:t>check_access</a:t>
            </a:r>
            <a:endParaRPr lang="en-US" sz="1400" dirty="0"/>
          </a:p>
        </p:txBody>
      </p:sp>
      <p:sp>
        <p:nvSpPr>
          <p:cNvPr id="10" name="Text 8"/>
          <p:cNvSpPr txBox="1"/>
          <p:nvPr/>
        </p:nvSpPr>
        <p:spPr>
          <a:xfrm>
            <a:off x="1024128" y="3282696"/>
            <a:ext cx="5175504" cy="365760"/>
          </a:xfrm>
          <a:prstGeom prst="rect">
            <a:avLst/>
          </a:prstGeom>
          <a:noFill/>
          <a:ln/>
        </p:spPr>
        <p:txBody>
          <a:bodyPr wrap="square" lIns="0" tIns="0" rIns="0" bIns="0" rtlCol="0" anchor="ctr"/>
          <a:lstStyle/>
          <a:p>
            <a:pPr indent="0" marL="0">
              <a:lnSpc>
                <a:spcPct val="110000"/>
              </a:lnSpc>
              <a:buNone/>
            </a:pPr>
            <a:r>
              <a:rPr lang="en-US" sz="1050" dirty="0">
                <a:solidFill>
                  <a:srgbClr val="CADCFC"/>
                </a:solidFill>
                <a:latin typeface="Calibri" pitchFamily="34" charset="0"/>
                <a:ea typeface="Calibri" pitchFamily="34" charset="-122"/>
                <a:cs typeface="Calibri" pitchFamily="34" charset="-120"/>
              </a:rPr>
              <a:t>run the SQL guardrails, then the role permission check</a:t>
            </a:r>
            <a:endParaRPr lang="en-US" sz="1050" dirty="0"/>
          </a:p>
        </p:txBody>
      </p:sp>
      <p:sp>
        <p:nvSpPr>
          <p:cNvPr id="11" name="Text 9"/>
          <p:cNvSpPr txBox="1"/>
          <p:nvPr/>
        </p:nvSpPr>
        <p:spPr>
          <a:xfrm>
            <a:off x="822960" y="3703320"/>
            <a:ext cx="5577840" cy="237744"/>
          </a:xfrm>
          <a:prstGeom prst="rect">
            <a:avLst/>
          </a:prstGeom>
          <a:noFill/>
          <a:ln/>
        </p:spPr>
        <p:txBody>
          <a:bodyPr wrap="square" lIns="0" tIns="0" rIns="0" bIns="0" rtlCol="0" anchor="ctr"/>
          <a:lstStyle/>
          <a:p>
            <a:pPr algn="ctr" indent="0" marL="0">
              <a:buNone/>
            </a:pPr>
            <a:r>
              <a:rPr lang="en-US" sz="1500" dirty="0">
                <a:solidFill>
                  <a:srgbClr val="8E97C4"/>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822960" y="3941064"/>
            <a:ext cx="5577840" cy="841248"/>
          </a:xfrm>
          <a:prstGeom prst="roundRect">
            <a:avLst>
              <a:gd name="adj" fmla="val 8696"/>
            </a:avLst>
          </a:prstGeom>
          <a:solidFill>
            <a:srgbClr val="2A3372"/>
          </a:solidFill>
          <a:ln/>
        </p:spPr>
      </p:sp>
      <p:sp>
        <p:nvSpPr>
          <p:cNvPr id="13" name="Text 11"/>
          <p:cNvSpPr txBox="1"/>
          <p:nvPr/>
        </p:nvSpPr>
        <p:spPr>
          <a:xfrm>
            <a:off x="1024128" y="4032504"/>
            <a:ext cx="5175504" cy="292608"/>
          </a:xfrm>
          <a:prstGeom prst="rect">
            <a:avLst/>
          </a:prstGeom>
          <a:noFill/>
          <a:ln/>
        </p:spPr>
        <p:txBody>
          <a:bodyPr wrap="square" lIns="0" tIns="0" rIns="0" bIns="0" rtlCol="0" anchor="ctr"/>
          <a:lstStyle/>
          <a:p>
            <a:pPr indent="0" marL="0">
              <a:buNone/>
            </a:pPr>
            <a:r>
              <a:rPr lang="en-US" sz="1400" b="1" dirty="0">
                <a:solidFill>
                  <a:srgbClr val="F2A93C"/>
                </a:solidFill>
                <a:latin typeface="Consolas" pitchFamily="34" charset="0"/>
                <a:ea typeface="Consolas" pitchFamily="34" charset="-122"/>
                <a:cs typeface="Consolas" pitchFamily="34" charset="-120"/>
              </a:rPr>
              <a:t>run_sql</a:t>
            </a:r>
            <a:endParaRPr lang="en-US" sz="1400" dirty="0"/>
          </a:p>
        </p:txBody>
      </p:sp>
      <p:sp>
        <p:nvSpPr>
          <p:cNvPr id="14" name="Text 12"/>
          <p:cNvSpPr txBox="1"/>
          <p:nvPr/>
        </p:nvSpPr>
        <p:spPr>
          <a:xfrm>
            <a:off x="1024128" y="4361688"/>
            <a:ext cx="5175504" cy="365760"/>
          </a:xfrm>
          <a:prstGeom prst="rect">
            <a:avLst/>
          </a:prstGeom>
          <a:noFill/>
          <a:ln/>
        </p:spPr>
        <p:txBody>
          <a:bodyPr wrap="square" lIns="0" tIns="0" rIns="0" bIns="0" rtlCol="0" anchor="ctr"/>
          <a:lstStyle/>
          <a:p>
            <a:pPr indent="0" marL="0">
              <a:lnSpc>
                <a:spcPct val="110000"/>
              </a:lnSpc>
              <a:buNone/>
            </a:pPr>
            <a:r>
              <a:rPr lang="en-US" sz="1050" dirty="0">
                <a:solidFill>
                  <a:srgbClr val="CADCFC"/>
                </a:solidFill>
                <a:latin typeface="Calibri" pitchFamily="34" charset="0"/>
                <a:ea typeface="Calibri" pitchFamily="34" charset="-122"/>
                <a:cs typeface="Calibri" pitchFamily="34" charset="-120"/>
              </a:rPr>
              <a:t>execute the read in a 20s read-only transaction</a:t>
            </a:r>
            <a:endParaRPr lang="en-US" sz="1050" dirty="0"/>
          </a:p>
        </p:txBody>
      </p:sp>
      <p:sp>
        <p:nvSpPr>
          <p:cNvPr id="15" name="Text 13"/>
          <p:cNvSpPr txBox="1"/>
          <p:nvPr/>
        </p:nvSpPr>
        <p:spPr>
          <a:xfrm>
            <a:off x="822960" y="4782312"/>
            <a:ext cx="5577840" cy="237744"/>
          </a:xfrm>
          <a:prstGeom prst="rect">
            <a:avLst/>
          </a:prstGeom>
          <a:noFill/>
          <a:ln/>
        </p:spPr>
        <p:txBody>
          <a:bodyPr wrap="square" lIns="0" tIns="0" rIns="0" bIns="0" rtlCol="0" anchor="ctr"/>
          <a:lstStyle/>
          <a:p>
            <a:pPr algn="ctr" indent="0" marL="0">
              <a:buNone/>
            </a:pPr>
            <a:r>
              <a:rPr lang="en-US" sz="1500" dirty="0">
                <a:solidFill>
                  <a:srgbClr val="8E97C4"/>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822960" y="5020056"/>
            <a:ext cx="5577840" cy="841248"/>
          </a:xfrm>
          <a:prstGeom prst="roundRect">
            <a:avLst>
              <a:gd name="adj" fmla="val 8696"/>
            </a:avLst>
          </a:prstGeom>
          <a:solidFill>
            <a:srgbClr val="2A3372"/>
          </a:solidFill>
          <a:ln/>
        </p:spPr>
      </p:sp>
      <p:sp>
        <p:nvSpPr>
          <p:cNvPr id="17" name="Text 15"/>
          <p:cNvSpPr txBox="1"/>
          <p:nvPr/>
        </p:nvSpPr>
        <p:spPr>
          <a:xfrm>
            <a:off x="1024128" y="5111496"/>
            <a:ext cx="5175504" cy="292608"/>
          </a:xfrm>
          <a:prstGeom prst="rect">
            <a:avLst/>
          </a:prstGeom>
          <a:noFill/>
          <a:ln/>
        </p:spPr>
        <p:txBody>
          <a:bodyPr wrap="square" lIns="0" tIns="0" rIns="0" bIns="0" rtlCol="0" anchor="ctr"/>
          <a:lstStyle/>
          <a:p>
            <a:pPr indent="0" marL="0">
              <a:buNone/>
            </a:pPr>
            <a:r>
              <a:rPr lang="en-US" sz="1400" b="1" dirty="0">
                <a:solidFill>
                  <a:srgbClr val="F2A93C"/>
                </a:solidFill>
                <a:latin typeface="Consolas" pitchFamily="34" charset="0"/>
                <a:ea typeface="Consolas" pitchFamily="34" charset="-122"/>
                <a:cs typeface="Consolas" pitchFamily="34" charset="-120"/>
              </a:rPr>
              <a:t>answer</a:t>
            </a:r>
            <a:endParaRPr lang="en-US" sz="1400" dirty="0"/>
          </a:p>
        </p:txBody>
      </p:sp>
      <p:sp>
        <p:nvSpPr>
          <p:cNvPr id="18" name="Text 16"/>
          <p:cNvSpPr txBox="1"/>
          <p:nvPr/>
        </p:nvSpPr>
        <p:spPr>
          <a:xfrm>
            <a:off x="1024128" y="5440680"/>
            <a:ext cx="5175504" cy="365760"/>
          </a:xfrm>
          <a:prstGeom prst="rect">
            <a:avLst/>
          </a:prstGeom>
          <a:noFill/>
          <a:ln/>
        </p:spPr>
        <p:txBody>
          <a:bodyPr wrap="square" lIns="0" tIns="0" rIns="0" bIns="0" rtlCol="0" anchor="ctr"/>
          <a:lstStyle/>
          <a:p>
            <a:pPr indent="0" marL="0">
              <a:lnSpc>
                <a:spcPct val="110000"/>
              </a:lnSpc>
              <a:buNone/>
            </a:pPr>
            <a:r>
              <a:rPr lang="en-US" sz="1050" dirty="0">
                <a:solidFill>
                  <a:srgbClr val="CADCFC"/>
                </a:solidFill>
                <a:latin typeface="Calibri" pitchFamily="34" charset="0"/>
                <a:ea typeface="Calibri" pitchFamily="34" charset="-122"/>
                <a:cs typeface="Calibri" pitchFamily="34" charset="-120"/>
              </a:rPr>
              <a:t>explain the rows in 1–4 plain-English sentences, pick a chart</a:t>
            </a:r>
            <a:endParaRPr lang="en-US" sz="1050" dirty="0"/>
          </a:p>
        </p:txBody>
      </p:sp>
      <p:sp>
        <p:nvSpPr>
          <p:cNvPr id="19" name="Shape 17"/>
          <p:cNvSpPr/>
          <p:nvPr/>
        </p:nvSpPr>
        <p:spPr>
          <a:xfrm>
            <a:off x="6400800" y="3282696"/>
            <a:ext cx="502920" cy="0"/>
          </a:xfrm>
          <a:prstGeom prst="line">
            <a:avLst/>
          </a:prstGeom>
          <a:noFill/>
          <a:ln w="15875">
            <a:solidFill>
              <a:srgbClr val="8E97C4"/>
            </a:solidFill>
            <a:prstDash val="solid"/>
            <a:tailEnd type="triangle"/>
          </a:ln>
        </p:spPr>
      </p:sp>
      <p:sp>
        <p:nvSpPr>
          <p:cNvPr id="20" name="Shape 18"/>
          <p:cNvSpPr/>
          <p:nvPr/>
        </p:nvSpPr>
        <p:spPr>
          <a:xfrm>
            <a:off x="6995160" y="2724912"/>
            <a:ext cx="4617720" cy="384048"/>
          </a:xfrm>
          <a:prstGeom prst="roundRect">
            <a:avLst>
              <a:gd name="adj" fmla="val 50000"/>
            </a:avLst>
          </a:prstGeom>
          <a:solidFill>
            <a:srgbClr val="141A47"/>
          </a:solidFill>
          <a:ln w="12700">
            <a:solidFill>
              <a:srgbClr val="3A4380"/>
            </a:solidFill>
            <a:prstDash val="solid"/>
          </a:ln>
        </p:spPr>
      </p:sp>
      <p:sp>
        <p:nvSpPr>
          <p:cNvPr id="21" name="Text 19"/>
          <p:cNvSpPr txBox="1"/>
          <p:nvPr/>
        </p:nvSpPr>
        <p:spPr>
          <a:xfrm>
            <a:off x="6995160" y="2724912"/>
            <a:ext cx="4617720" cy="384048"/>
          </a:xfrm>
          <a:prstGeom prst="rect">
            <a:avLst/>
          </a:prstGeom>
          <a:noFill/>
          <a:ln/>
        </p:spPr>
        <p:txBody>
          <a:bodyPr wrap="square" lIns="0" tIns="0" rIns="0" bIns="0" rtlCol="0" anchor="ctr"/>
          <a:lstStyle/>
          <a:p>
            <a:pPr algn="ctr" indent="0" marL="0">
              <a:buNone/>
            </a:pPr>
            <a:endParaRPr lang="en-US" sz="1100" dirty="0"/>
          </a:p>
        </p:txBody>
      </p:sp>
      <p:sp>
        <p:nvSpPr>
          <p:cNvPr id="22" name="Text 20"/>
          <p:cNvSpPr txBox="1"/>
          <p:nvPr/>
        </p:nvSpPr>
        <p:spPr>
          <a:xfrm>
            <a:off x="7178040" y="2724912"/>
            <a:ext cx="4251960" cy="384048"/>
          </a:xfrm>
          <a:prstGeom prst="rect">
            <a:avLst/>
          </a:prstGeom>
          <a:noFill/>
          <a:ln/>
        </p:spPr>
        <p:txBody>
          <a:bodyPr wrap="square" lIns="0" tIns="0" rIns="0" bIns="0" rtlCol="0" anchor="ctr"/>
          <a:lstStyle/>
          <a:p>
            <a:pPr indent="0" marL="0">
              <a:buNone/>
            </a:pPr>
            <a:r>
              <a:rPr lang="en-US" sz="1000" b="1" dirty="0">
                <a:solidFill>
                  <a:srgbClr val="F2A93C"/>
                </a:solidFill>
                <a:latin typeface="Consolas" pitchFamily="34" charset="0"/>
                <a:ea typeface="Consolas" pitchFamily="34" charset="-122"/>
                <a:cs typeface="Consolas" pitchFamily="34" charset="-120"/>
              </a:rPr>
              <a:t>kind = "chat"  </a:t>
            </a:r>
            <a:pPr indent="0" marL="0">
              <a:buNone/>
            </a:pPr>
            <a:r>
              <a:rPr lang="en-US" sz="1000" dirty="0">
                <a:solidFill>
                  <a:srgbClr val="CADCFC"/>
                </a:solidFill>
                <a:latin typeface="Calibri" pitchFamily="34" charset="0"/>
                <a:ea typeface="Calibri" pitchFamily="34" charset="-122"/>
                <a:cs typeface="Calibri" pitchFamily="34" charset="-120"/>
              </a:rPr>
              <a:t>→ END, short reply</a:t>
            </a:r>
            <a:endParaRPr lang="en-US" sz="1000" dirty="0"/>
          </a:p>
        </p:txBody>
      </p:sp>
      <p:sp>
        <p:nvSpPr>
          <p:cNvPr id="23" name="Shape 21"/>
          <p:cNvSpPr/>
          <p:nvPr/>
        </p:nvSpPr>
        <p:spPr>
          <a:xfrm>
            <a:off x="6995160" y="3200400"/>
            <a:ext cx="4617720" cy="384048"/>
          </a:xfrm>
          <a:prstGeom prst="roundRect">
            <a:avLst>
              <a:gd name="adj" fmla="val 50000"/>
            </a:avLst>
          </a:prstGeom>
          <a:solidFill>
            <a:srgbClr val="141A47"/>
          </a:solidFill>
          <a:ln w="12700">
            <a:solidFill>
              <a:srgbClr val="3A4380"/>
            </a:solidFill>
            <a:prstDash val="solid"/>
          </a:ln>
        </p:spPr>
      </p:sp>
      <p:sp>
        <p:nvSpPr>
          <p:cNvPr id="24" name="Text 22"/>
          <p:cNvSpPr txBox="1"/>
          <p:nvPr/>
        </p:nvSpPr>
        <p:spPr>
          <a:xfrm>
            <a:off x="6995160" y="3200400"/>
            <a:ext cx="4617720" cy="384048"/>
          </a:xfrm>
          <a:prstGeom prst="rect">
            <a:avLst/>
          </a:prstGeom>
          <a:noFill/>
          <a:ln/>
        </p:spPr>
        <p:txBody>
          <a:bodyPr wrap="square" lIns="0" tIns="0" rIns="0" bIns="0" rtlCol="0" anchor="ctr"/>
          <a:lstStyle/>
          <a:p>
            <a:pPr algn="ctr" indent="0" marL="0">
              <a:buNone/>
            </a:pPr>
            <a:endParaRPr lang="en-US" sz="1100" dirty="0"/>
          </a:p>
        </p:txBody>
      </p:sp>
      <p:sp>
        <p:nvSpPr>
          <p:cNvPr id="25" name="Text 23"/>
          <p:cNvSpPr txBox="1"/>
          <p:nvPr/>
        </p:nvSpPr>
        <p:spPr>
          <a:xfrm>
            <a:off x="7178040" y="3200400"/>
            <a:ext cx="4251960" cy="384048"/>
          </a:xfrm>
          <a:prstGeom prst="rect">
            <a:avLst/>
          </a:prstGeom>
          <a:noFill/>
          <a:ln/>
        </p:spPr>
        <p:txBody>
          <a:bodyPr wrap="square" lIns="0" tIns="0" rIns="0" bIns="0" rtlCol="0" anchor="ctr"/>
          <a:lstStyle/>
          <a:p>
            <a:pPr indent="0" marL="0">
              <a:buNone/>
            </a:pPr>
            <a:r>
              <a:rPr lang="en-US" sz="1000" b="1" dirty="0">
                <a:solidFill>
                  <a:srgbClr val="F2A93C"/>
                </a:solidFill>
                <a:latin typeface="Consolas" pitchFamily="34" charset="0"/>
                <a:ea typeface="Consolas" pitchFamily="34" charset="-122"/>
                <a:cs typeface="Consolas" pitchFamily="34" charset="-120"/>
              </a:rPr>
              <a:t>blocked  </a:t>
            </a:r>
            <a:pPr indent="0" marL="0">
              <a:buNone/>
            </a:pPr>
            <a:r>
              <a:rPr lang="en-US" sz="1000" dirty="0">
                <a:solidFill>
                  <a:srgbClr val="CADCFC"/>
                </a:solidFill>
                <a:latin typeface="Calibri" pitchFamily="34" charset="0"/>
                <a:ea typeface="Calibri" pitchFamily="34" charset="-122"/>
                <a:cs typeface="Calibri" pitchFamily="34" charset="-120"/>
              </a:rPr>
              <a:t>→ END, permission denied</a:t>
            </a:r>
            <a:endParaRPr lang="en-US" sz="1000" dirty="0"/>
          </a:p>
        </p:txBody>
      </p:sp>
      <p:sp>
        <p:nvSpPr>
          <p:cNvPr id="26" name="Shape 24"/>
          <p:cNvSpPr/>
          <p:nvPr/>
        </p:nvSpPr>
        <p:spPr>
          <a:xfrm>
            <a:off x="6995160" y="3675888"/>
            <a:ext cx="4617720" cy="384048"/>
          </a:xfrm>
          <a:prstGeom prst="roundRect">
            <a:avLst>
              <a:gd name="adj" fmla="val 50000"/>
            </a:avLst>
          </a:prstGeom>
          <a:solidFill>
            <a:srgbClr val="141A47"/>
          </a:solidFill>
          <a:ln w="12700">
            <a:solidFill>
              <a:srgbClr val="3A4380"/>
            </a:solidFill>
            <a:prstDash val="solid"/>
          </a:ln>
        </p:spPr>
      </p:sp>
      <p:sp>
        <p:nvSpPr>
          <p:cNvPr id="27" name="Text 25"/>
          <p:cNvSpPr txBox="1"/>
          <p:nvPr/>
        </p:nvSpPr>
        <p:spPr>
          <a:xfrm>
            <a:off x="6995160" y="3675888"/>
            <a:ext cx="4617720" cy="384048"/>
          </a:xfrm>
          <a:prstGeom prst="rect">
            <a:avLst/>
          </a:prstGeom>
          <a:noFill/>
          <a:ln/>
        </p:spPr>
        <p:txBody>
          <a:bodyPr wrap="square" lIns="0" tIns="0" rIns="0" bIns="0" rtlCol="0" anchor="ctr"/>
          <a:lstStyle/>
          <a:p>
            <a:pPr algn="ctr" indent="0" marL="0">
              <a:buNone/>
            </a:pPr>
            <a:endParaRPr lang="en-US" sz="1100" dirty="0"/>
          </a:p>
        </p:txBody>
      </p:sp>
      <p:sp>
        <p:nvSpPr>
          <p:cNvPr id="28" name="Text 26"/>
          <p:cNvSpPr txBox="1"/>
          <p:nvPr/>
        </p:nvSpPr>
        <p:spPr>
          <a:xfrm>
            <a:off x="7178040" y="3675888"/>
            <a:ext cx="4251960" cy="384048"/>
          </a:xfrm>
          <a:prstGeom prst="rect">
            <a:avLst/>
          </a:prstGeom>
          <a:noFill/>
          <a:ln/>
        </p:spPr>
        <p:txBody>
          <a:bodyPr wrap="square" lIns="0" tIns="0" rIns="0" bIns="0" rtlCol="0" anchor="ctr"/>
          <a:lstStyle/>
          <a:p>
            <a:pPr indent="0" marL="0">
              <a:buNone/>
            </a:pPr>
            <a:r>
              <a:rPr lang="en-US" sz="1000" b="1" dirty="0">
                <a:solidFill>
                  <a:srgbClr val="F2A93C"/>
                </a:solidFill>
                <a:latin typeface="Consolas" pitchFamily="34" charset="0"/>
                <a:ea typeface="Consolas" pitchFamily="34" charset="-122"/>
                <a:cs typeface="Consolas" pitchFamily="34" charset="-120"/>
              </a:rPr>
              <a:t>needs_confirmation  </a:t>
            </a:r>
            <a:pPr indent="0" marL="0">
              <a:buNone/>
            </a:pPr>
            <a:r>
              <a:rPr lang="en-US" sz="1000" dirty="0">
                <a:solidFill>
                  <a:srgbClr val="CADCFC"/>
                </a:solidFill>
                <a:latin typeface="Calibri" pitchFamily="34" charset="0"/>
                <a:ea typeface="Calibri" pitchFamily="34" charset="-122"/>
                <a:cs typeface="Calibri" pitchFamily="34" charset="-120"/>
              </a:rPr>
              <a:t>→ END, waits for the user</a:t>
            </a:r>
            <a:endParaRPr lang="en-US" sz="1000" dirty="0"/>
          </a:p>
        </p:txBody>
      </p:sp>
      <p:sp>
        <p:nvSpPr>
          <p:cNvPr id="29" name="Shape 27"/>
          <p:cNvSpPr/>
          <p:nvPr/>
        </p:nvSpPr>
        <p:spPr>
          <a:xfrm>
            <a:off x="6995160" y="4315968"/>
            <a:ext cx="4617720" cy="868680"/>
          </a:xfrm>
          <a:prstGeom prst="roundRect">
            <a:avLst>
              <a:gd name="adj" fmla="val 50000"/>
            </a:avLst>
          </a:prstGeom>
          <a:solidFill>
            <a:srgbClr val="141A47"/>
          </a:solidFill>
          <a:ln w="12700">
            <a:solidFill>
              <a:srgbClr val="3A4380"/>
            </a:solidFill>
            <a:prstDash val="solid"/>
          </a:ln>
        </p:spPr>
      </p:sp>
      <p:sp>
        <p:nvSpPr>
          <p:cNvPr id="30" name="Text 28"/>
          <p:cNvSpPr txBox="1"/>
          <p:nvPr/>
        </p:nvSpPr>
        <p:spPr>
          <a:xfrm>
            <a:off x="6995160" y="4315968"/>
            <a:ext cx="4617720" cy="868680"/>
          </a:xfrm>
          <a:prstGeom prst="rect">
            <a:avLst/>
          </a:prstGeom>
          <a:noFill/>
          <a:ln/>
        </p:spPr>
        <p:txBody>
          <a:bodyPr wrap="square" lIns="0" tIns="0" rIns="0" bIns="0" rtlCol="0" anchor="ctr"/>
          <a:lstStyle/>
          <a:p>
            <a:pPr algn="ctr" indent="0" marL="0">
              <a:buNone/>
            </a:pPr>
            <a:endParaRPr lang="en-US" sz="1100" dirty="0"/>
          </a:p>
        </p:txBody>
      </p:sp>
      <p:sp>
        <p:nvSpPr>
          <p:cNvPr id="31" name="Text 29"/>
          <p:cNvSpPr txBox="1"/>
          <p:nvPr/>
        </p:nvSpPr>
        <p:spPr>
          <a:xfrm>
            <a:off x="7178040" y="4407408"/>
            <a:ext cx="4251960" cy="713232"/>
          </a:xfrm>
          <a:prstGeom prst="rect">
            <a:avLst/>
          </a:prstGeom>
          <a:noFill/>
          <a:ln/>
        </p:spPr>
        <p:txBody>
          <a:bodyPr wrap="square" lIns="0" tIns="0" rIns="0" bIns="0" rtlCol="0" anchor="ctr"/>
          <a:lstStyle/>
          <a:p>
            <a:pPr indent="0" marL="0">
              <a:lnSpc>
                <a:spcPct val="118000"/>
              </a:lnSpc>
              <a:buNone/>
            </a:pPr>
            <a:r>
              <a:rPr lang="en-US" sz="1050" dirty="0">
                <a:solidFill>
                  <a:srgbClr val="CADCFC"/>
                </a:solidFill>
                <a:latin typeface="Calibri" pitchFamily="34" charset="0"/>
                <a:ea typeface="Calibri" pitchFamily="34" charset="-122"/>
                <a:cs typeface="Calibri" pitchFamily="34" charset="-120"/>
              </a:rPr>
              <a:t>on SQL error  </a:t>
            </a:r>
            <a:pPr indent="0" marL="0">
              <a:lnSpc>
                <a:spcPct val="118000"/>
              </a:lnSpc>
              <a:buNone/>
            </a:pPr>
            <a:r>
              <a:rPr lang="en-US" sz="1050" b="1" dirty="0">
                <a:solidFill>
                  <a:srgbClr val="F2A93C"/>
                </a:solidFill>
                <a:latin typeface="Consolas" pitchFamily="34" charset="0"/>
                <a:ea typeface="Consolas" pitchFamily="34" charset="-122"/>
                <a:cs typeface="Consolas" pitchFamily="34" charset="-120"/>
              </a:rPr>
              <a:t>↺ back to write_sql</a:t>
            </a:r>
            <a:endParaRPr lang="en-US" sz="1050" dirty="0"/>
          </a:p>
          <a:p>
            <a:pPr indent="0" marL="0">
              <a:lnSpc>
                <a:spcPct val="118000"/>
              </a:lnSpc>
              <a:buNone/>
            </a:pPr>
            <a:r>
              <a:rPr lang="en-US" sz="950" dirty="0">
                <a:solidFill>
                  <a:srgbClr val="AEB9E0"/>
                </a:solidFill>
                <a:latin typeface="Calibri" pitchFamily="34" charset="0"/>
                <a:ea typeface="Calibri" pitchFamily="34" charset="-122"/>
                <a:cs typeface="Calibri" pitchFamily="34" charset="-120"/>
              </a:rPr>
              <a:t>up to 2 attempts, with the error appended to the prompt so the model can fix it</a:t>
            </a:r>
            <a:endParaRPr lang="en-US" sz="1050" dirty="0"/>
          </a:p>
        </p:txBody>
      </p:sp>
      <p:sp>
        <p:nvSpPr>
          <p:cNvPr id="32" name="Text 30"/>
          <p:cNvSpPr txBox="1"/>
          <p:nvPr/>
        </p:nvSpPr>
        <p:spPr>
          <a:xfrm>
            <a:off x="822960" y="5989320"/>
            <a:ext cx="10515600" cy="548640"/>
          </a:xfrm>
          <a:prstGeom prst="rect">
            <a:avLst/>
          </a:prstGeom>
          <a:noFill/>
          <a:ln/>
        </p:spPr>
        <p:txBody>
          <a:bodyPr wrap="square" lIns="0" tIns="0" rIns="0" bIns="0" rtlCol="0" anchor="ctr"/>
          <a:lstStyle/>
          <a:p>
            <a:pPr indent="0" marL="0">
              <a:lnSpc>
                <a:spcPct val="120000"/>
              </a:lnSpc>
              <a:buNone/>
            </a:pPr>
            <a:r>
              <a:rPr lang="en-US" sz="1050" i="1" dirty="0">
                <a:solidFill>
                  <a:srgbClr val="AEB9E0"/>
                </a:solidFill>
                <a:latin typeface="Calibri" pitchFamily="34" charset="0"/>
                <a:ea typeface="Calibri" pitchFamily="34" charset="-122"/>
                <a:cs typeface="Calibri" pitchFamily="34" charset="-120"/>
              </a:rPr>
              <a:t>Why a graph instead of one open-ended agent loop: each node has one job, the retry only happens where it's safe (SQL, not the whole conversation), and every step shows up as its own span in a LangSmith trace.</a:t>
            </a:r>
            <a:endParaRPr lang="en-US" sz="1050" dirty="0"/>
          </a:p>
        </p:txBody>
      </p:sp>
      <p:sp>
        <p:nvSpPr>
          <p:cNvPr id="33" name="Text 31"/>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39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34" name="Text 32"/>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390"/>
                </a:solidFill>
                <a:latin typeface="Calibri" pitchFamily="34" charset="0"/>
                <a:ea typeface="Calibri" pitchFamily="34" charset="-122"/>
                <a:cs typeface="Calibri" pitchFamily="34" charset="-120"/>
              </a:rPr>
              <a:t>9</a:t>
            </a:r>
            <a:endParaRPr lang="en-US" sz="900" dirty="0"/>
          </a:p>
        </p:txBody>
      </p:sp>
      <p:sp>
        <p:nvSpPr>
          <p:cNvPr id="35" name="Text 33"/>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2A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36" name="Text 34"/>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2A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A93C"/>
                </a:solidFill>
                <a:latin typeface="Calibri" pitchFamily="34" charset="0"/>
                <a:ea typeface="Calibri" pitchFamily="34" charset="-122"/>
                <a:cs typeface="Calibri" pitchFamily="34" charset="-120"/>
              </a:rPr>
              <a:t>BUILD STEP 5 OF 7</a:t>
            </a:r>
            <a:endParaRPr lang="en-US" sz="1200" dirty="0"/>
          </a:p>
        </p:txBody>
      </p:sp>
      <p:sp>
        <p:nvSpPr>
          <p:cNvPr id="3" name="Text 1"/>
          <p:cNvSpPr txBox="1"/>
          <p:nvPr/>
        </p:nvSpPr>
        <p:spPr>
          <a:xfrm>
            <a:off x="640080" y="749808"/>
            <a:ext cx="1051560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Guardrails, not trust</a:t>
            </a:r>
            <a:endParaRPr lang="en-US" sz="3200" dirty="0"/>
          </a:p>
        </p:txBody>
      </p:sp>
      <p:sp>
        <p:nvSpPr>
          <p:cNvPr id="4" name="Shape 2"/>
          <p:cNvSpPr/>
          <p:nvPr/>
        </p:nvSpPr>
        <p:spPr>
          <a:xfrm>
            <a:off x="640080" y="1691640"/>
            <a:ext cx="384048" cy="384048"/>
          </a:xfrm>
          <a:prstGeom prst="ellipse">
            <a:avLst/>
          </a:prstGeom>
          <a:solidFill>
            <a:srgbClr val="1E2761"/>
          </a:solidFill>
          <a:ln/>
        </p:spPr>
      </p:sp>
      <p:sp>
        <p:nvSpPr>
          <p:cNvPr id="5" name="Text 3"/>
          <p:cNvSpPr txBox="1"/>
          <p:nvPr/>
        </p:nvSpPr>
        <p:spPr>
          <a:xfrm>
            <a:off x="640080" y="1691640"/>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1</a:t>
            </a:r>
            <a:endParaRPr lang="en-US" sz="1386" dirty="0"/>
          </a:p>
        </p:txBody>
      </p:sp>
      <p:sp>
        <p:nvSpPr>
          <p:cNvPr id="6" name="Text 4"/>
          <p:cNvSpPr txBox="1"/>
          <p:nvPr/>
        </p:nvSpPr>
        <p:spPr>
          <a:xfrm>
            <a:off x="1207008" y="1655064"/>
            <a:ext cx="629107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The model is told the rules</a:t>
            </a:r>
            <a:endParaRPr lang="en-US" sz="1400" dirty="0"/>
          </a:p>
        </p:txBody>
      </p:sp>
      <p:sp>
        <p:nvSpPr>
          <p:cNvPr id="7" name="Text 5"/>
          <p:cNvSpPr txBox="1"/>
          <p:nvPr/>
        </p:nvSpPr>
        <p:spPr>
          <a:xfrm>
            <a:off x="1207008" y="1947672"/>
            <a:ext cx="629107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The prompt only allows SELECT for reads and INSERT/UPDATE for writes. Never DELETE.</a:t>
            </a:r>
            <a:endParaRPr lang="en-US" sz="1150" dirty="0"/>
          </a:p>
        </p:txBody>
      </p:sp>
      <p:sp>
        <p:nvSpPr>
          <p:cNvPr id="8" name="Shape 6"/>
          <p:cNvSpPr/>
          <p:nvPr/>
        </p:nvSpPr>
        <p:spPr>
          <a:xfrm>
            <a:off x="640080" y="2679192"/>
            <a:ext cx="384048" cy="384048"/>
          </a:xfrm>
          <a:prstGeom prst="ellipse">
            <a:avLst/>
          </a:prstGeom>
          <a:solidFill>
            <a:srgbClr val="1E2761"/>
          </a:solidFill>
          <a:ln/>
        </p:spPr>
      </p:sp>
      <p:sp>
        <p:nvSpPr>
          <p:cNvPr id="9" name="Text 7"/>
          <p:cNvSpPr txBox="1"/>
          <p:nvPr/>
        </p:nvSpPr>
        <p:spPr>
          <a:xfrm>
            <a:off x="640080" y="2679192"/>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2</a:t>
            </a:r>
            <a:endParaRPr lang="en-US" sz="1386" dirty="0"/>
          </a:p>
        </p:txBody>
      </p:sp>
      <p:sp>
        <p:nvSpPr>
          <p:cNvPr id="10" name="Text 8"/>
          <p:cNvSpPr txBox="1"/>
          <p:nvPr/>
        </p:nvSpPr>
        <p:spPr>
          <a:xfrm>
            <a:off x="1207008" y="2642616"/>
            <a:ext cx="629107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A regex net checks the SQL anyway</a:t>
            </a:r>
            <a:endParaRPr lang="en-US" sz="1400" dirty="0"/>
          </a:p>
        </p:txBody>
      </p:sp>
      <p:sp>
        <p:nvSpPr>
          <p:cNvPr id="11" name="Text 9"/>
          <p:cNvSpPr txBox="1"/>
          <p:nvPr/>
        </p:nvSpPr>
        <p:spPr>
          <a:xfrm>
            <a:off x="1207008" y="2935224"/>
            <a:ext cx="629107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Blocks DROP / DELETE / TRUNCATE / ALTER / GRANT / REVOKE / CREATE, multi-statement chaining, and UPDATE without a WHERE clause.</a:t>
            </a:r>
            <a:endParaRPr lang="en-US" sz="1150" dirty="0"/>
          </a:p>
        </p:txBody>
      </p:sp>
      <p:sp>
        <p:nvSpPr>
          <p:cNvPr id="12" name="Shape 10"/>
          <p:cNvSpPr/>
          <p:nvPr/>
        </p:nvSpPr>
        <p:spPr>
          <a:xfrm>
            <a:off x="640080" y="3666744"/>
            <a:ext cx="384048" cy="384048"/>
          </a:xfrm>
          <a:prstGeom prst="ellipse">
            <a:avLst/>
          </a:prstGeom>
          <a:solidFill>
            <a:srgbClr val="1E2761"/>
          </a:solidFill>
          <a:ln/>
        </p:spPr>
      </p:sp>
      <p:sp>
        <p:nvSpPr>
          <p:cNvPr id="13" name="Text 11"/>
          <p:cNvSpPr txBox="1"/>
          <p:nvPr/>
        </p:nvSpPr>
        <p:spPr>
          <a:xfrm>
            <a:off x="640080" y="3666744"/>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3</a:t>
            </a:r>
            <a:endParaRPr lang="en-US" sz="1386" dirty="0"/>
          </a:p>
        </p:txBody>
      </p:sp>
      <p:sp>
        <p:nvSpPr>
          <p:cNvPr id="14" name="Text 12"/>
          <p:cNvSpPr txBox="1"/>
          <p:nvPr/>
        </p:nvSpPr>
        <p:spPr>
          <a:xfrm>
            <a:off x="1207008" y="3630168"/>
            <a:ext cx="629107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Every table is checked against the role</a:t>
            </a:r>
            <a:endParaRPr lang="en-US" sz="1400" dirty="0"/>
          </a:p>
        </p:txBody>
      </p:sp>
      <p:sp>
        <p:nvSpPr>
          <p:cNvPr id="15" name="Text 13"/>
          <p:cNvSpPr txBox="1"/>
          <p:nvPr/>
        </p:nvSpPr>
        <p:spPr>
          <a:xfrm>
            <a:off x="1207008" y="3922776"/>
            <a:ext cx="629107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Each table the SQL touches — including lookup subqueries — must be in that role's read or write list.</a:t>
            </a:r>
            <a:endParaRPr lang="en-US" sz="1150" dirty="0"/>
          </a:p>
        </p:txBody>
      </p:sp>
      <p:sp>
        <p:nvSpPr>
          <p:cNvPr id="16" name="Shape 14"/>
          <p:cNvSpPr/>
          <p:nvPr/>
        </p:nvSpPr>
        <p:spPr>
          <a:xfrm>
            <a:off x="640080" y="4654296"/>
            <a:ext cx="384048" cy="384048"/>
          </a:xfrm>
          <a:prstGeom prst="ellipse">
            <a:avLst/>
          </a:prstGeom>
          <a:solidFill>
            <a:srgbClr val="1E2761"/>
          </a:solidFill>
          <a:ln/>
        </p:spPr>
      </p:sp>
      <p:sp>
        <p:nvSpPr>
          <p:cNvPr id="17" name="Text 15"/>
          <p:cNvSpPr txBox="1"/>
          <p:nvPr/>
        </p:nvSpPr>
        <p:spPr>
          <a:xfrm>
            <a:off x="640080" y="4654296"/>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4</a:t>
            </a:r>
            <a:endParaRPr lang="en-US" sz="1386" dirty="0"/>
          </a:p>
        </p:txBody>
      </p:sp>
      <p:sp>
        <p:nvSpPr>
          <p:cNvPr id="18" name="Text 16"/>
          <p:cNvSpPr txBox="1"/>
          <p:nvPr/>
        </p:nvSpPr>
        <p:spPr>
          <a:xfrm>
            <a:off x="1207008" y="4617720"/>
            <a:ext cx="629107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A human confirms every write</a:t>
            </a:r>
            <a:endParaRPr lang="en-US" sz="1400" dirty="0"/>
          </a:p>
        </p:txBody>
      </p:sp>
      <p:sp>
        <p:nvSpPr>
          <p:cNvPr id="19" name="Text 17"/>
          <p:cNvSpPr txBox="1"/>
          <p:nvPr/>
        </p:nvSpPr>
        <p:spPr>
          <a:xfrm>
            <a:off x="1207008" y="4910328"/>
            <a:ext cx="629107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The UI shows the change and waits for a click. The server re-validates safety and permissions again before saving.</a:t>
            </a:r>
            <a:endParaRPr lang="en-US" sz="1150" dirty="0"/>
          </a:p>
        </p:txBody>
      </p:sp>
      <p:sp>
        <p:nvSpPr>
          <p:cNvPr id="20" name="Shape 18"/>
          <p:cNvSpPr/>
          <p:nvPr/>
        </p:nvSpPr>
        <p:spPr>
          <a:xfrm>
            <a:off x="7955280" y="1691640"/>
            <a:ext cx="3611880" cy="4114800"/>
          </a:xfrm>
          <a:prstGeom prst="roundRect">
            <a:avLst>
              <a:gd name="adj" fmla="val 2025"/>
            </a:avLst>
          </a:prstGeom>
          <a:solidFill>
            <a:srgbClr val="1E2761"/>
          </a:solidFill>
          <a:ln/>
          <a:effectLst>
            <a:outerShdw sx="100000" sy="100000" kx="0" ky="0" algn="bl" rotWithShape="0" blurRad="76200" dist="25400" dir="5400000">
              <a:srgbClr val="8B93B8">
                <a:alpha val="18000"/>
              </a:srgbClr>
            </a:outerShdw>
          </a:effectLst>
        </p:spPr>
      </p:sp>
      <p:sp>
        <p:nvSpPr>
          <p:cNvPr id="21" name="Shape 19"/>
          <p:cNvSpPr/>
          <p:nvPr/>
        </p:nvSpPr>
        <p:spPr>
          <a:xfrm>
            <a:off x="8366760" y="2011680"/>
            <a:ext cx="822960" cy="822960"/>
          </a:xfrm>
          <a:prstGeom prst="ellipse">
            <a:avLst/>
          </a:prstGeom>
          <a:solidFill>
            <a:srgbClr val="127C5A"/>
          </a:solidFill>
          <a:ln/>
        </p:spPr>
      </p:sp>
      <p:sp>
        <p:nvSpPr>
          <p:cNvPr id="22" name="Text 20"/>
          <p:cNvSpPr txBox="1"/>
          <p:nvPr/>
        </p:nvSpPr>
        <p:spPr>
          <a:xfrm>
            <a:off x="8366760" y="201168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23" name="Text 21"/>
          <p:cNvSpPr txBox="1"/>
          <p:nvPr/>
        </p:nvSpPr>
        <p:spPr>
          <a:xfrm>
            <a:off x="8138160" y="2971800"/>
            <a:ext cx="315468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12 / 12</a:t>
            </a:r>
            <a:endParaRPr lang="en-US" sz="3000" dirty="0"/>
          </a:p>
        </p:txBody>
      </p:sp>
      <p:sp>
        <p:nvSpPr>
          <p:cNvPr id="24" name="Text 22"/>
          <p:cNvSpPr txBox="1"/>
          <p:nvPr/>
        </p:nvSpPr>
        <p:spPr>
          <a:xfrm>
            <a:off x="8138160" y="3520440"/>
            <a:ext cx="3154680" cy="32004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safety tests passing</a:t>
            </a:r>
            <a:endParaRPr lang="en-US" sz="1200" dirty="0"/>
          </a:p>
        </p:txBody>
      </p:sp>
      <p:sp>
        <p:nvSpPr>
          <p:cNvPr id="25" name="Shape 23"/>
          <p:cNvSpPr/>
          <p:nvPr/>
        </p:nvSpPr>
        <p:spPr>
          <a:xfrm>
            <a:off x="8275320" y="4023360"/>
            <a:ext cx="2971800" cy="0"/>
          </a:xfrm>
          <a:prstGeom prst="line">
            <a:avLst/>
          </a:prstGeom>
          <a:noFill/>
          <a:ln w="12700">
            <a:solidFill>
              <a:srgbClr val="3A4380"/>
            </a:solidFill>
            <a:prstDash val="solid"/>
          </a:ln>
        </p:spPr>
      </p:sp>
      <p:sp>
        <p:nvSpPr>
          <p:cNvPr id="26" name="Text 24"/>
          <p:cNvSpPr txBox="1"/>
          <p:nvPr/>
        </p:nvSpPr>
        <p:spPr>
          <a:xfrm>
            <a:off x="8138160" y="4160520"/>
            <a:ext cx="3154680" cy="548640"/>
          </a:xfrm>
          <a:prstGeom prst="rect">
            <a:avLst/>
          </a:prstGeom>
          <a:noFill/>
          <a:ln/>
        </p:spPr>
        <p:txBody>
          <a:bodyPr wrap="square" lIns="0" tIns="0" rIns="0" bIns="0" rtlCol="0" anchor="ctr"/>
          <a:lstStyle/>
          <a:p>
            <a:pPr algn="ctr" indent="0" marL="0">
              <a:lnSpc>
                <a:spcPct val="130000"/>
              </a:lnSpc>
              <a:buNone/>
            </a:pPr>
            <a:r>
              <a:rPr lang="en-US" sz="950" dirty="0">
                <a:solidFill>
                  <a:srgbClr val="AEB9E0"/>
                </a:solidFill>
                <a:latin typeface="Consolas" pitchFamily="34" charset="0"/>
                <a:ea typeface="Consolas" pitchFamily="34" charset="-122"/>
                <a:cs typeface="Consolas" pitchFamily="34" charset="-120"/>
              </a:rPr>
              <a:t>pytest tests/test_safety.py</a:t>
            </a:r>
            <a:endParaRPr lang="en-US" sz="950" dirty="0"/>
          </a:p>
          <a:p>
            <a:pPr algn="ctr" indent="0" marL="0">
              <a:lnSpc>
                <a:spcPct val="130000"/>
              </a:lnSpc>
              <a:buNone/>
            </a:pPr>
            <a:r>
              <a:rPr lang="en-US" sz="950" dirty="0">
                <a:solidFill>
                  <a:srgbClr val="AEB9E0"/>
                </a:solidFill>
                <a:latin typeface="Consolas" pitchFamily="34" charset="0"/>
                <a:ea typeface="Consolas" pitchFamily="34" charset="-122"/>
                <a:cs typeface="Consolas" pitchFamily="34" charset="-120"/>
              </a:rPr>
              <a:t>— no LLM, no database, runs offline</a:t>
            </a:r>
            <a:endParaRPr lang="en-US" sz="950" dirty="0"/>
          </a:p>
        </p:txBody>
      </p:sp>
      <p:sp>
        <p:nvSpPr>
          <p:cNvPr id="27" name="Text 25"/>
          <p:cNvSpPr txBox="1"/>
          <p:nvPr/>
        </p:nvSpPr>
        <p:spPr>
          <a:xfrm>
            <a:off x="8138160" y="4892040"/>
            <a:ext cx="3154680" cy="274320"/>
          </a:xfrm>
          <a:prstGeom prst="rect">
            <a:avLst/>
          </a:prstGeom>
          <a:noFill/>
          <a:ln/>
        </p:spPr>
        <p:txBody>
          <a:bodyPr wrap="square" lIns="0" tIns="0" rIns="0" bIns="0" rtlCol="0" anchor="ctr"/>
          <a:lstStyle/>
          <a:p>
            <a:pPr algn="ctr" indent="0" marL="0">
              <a:buNone/>
            </a:pPr>
            <a:r>
              <a:rPr lang="en-US" sz="950" i="1" dirty="0">
                <a:solidFill>
                  <a:srgbClr val="F2A93C"/>
                </a:solidFill>
                <a:latin typeface="Calibri" pitchFamily="34" charset="0"/>
                <a:ea typeface="Calibri" pitchFamily="34" charset="-122"/>
                <a:cs typeface="Calibri" pitchFamily="34" charset="-120"/>
              </a:rPr>
              <a:t>Verified in this build.</a:t>
            </a:r>
            <a:endParaRPr lang="en-US" sz="950" dirty="0"/>
          </a:p>
        </p:txBody>
      </p:sp>
      <p:sp>
        <p:nvSpPr>
          <p:cNvPr id="28" name="Text 26"/>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39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29" name="Text 27"/>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39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A93C"/>
                </a:solidFill>
                <a:latin typeface="Calibri" pitchFamily="34" charset="0"/>
                <a:ea typeface="Calibri" pitchFamily="34" charset="-122"/>
                <a:cs typeface="Calibri" pitchFamily="34" charset="-120"/>
              </a:rPr>
              <a:t>BUILD STEP 6 OF 7</a:t>
            </a:r>
            <a:endParaRPr lang="en-US" sz="1200" dirty="0"/>
          </a:p>
        </p:txBody>
      </p:sp>
      <p:sp>
        <p:nvSpPr>
          <p:cNvPr id="3" name="Text 1"/>
          <p:cNvSpPr txBox="1"/>
          <p:nvPr/>
        </p:nvSpPr>
        <p:spPr>
          <a:xfrm>
            <a:off x="640080" y="749808"/>
            <a:ext cx="1051560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Explain results — don't just dump SQL</a:t>
            </a:r>
            <a:endParaRPr lang="en-US" sz="3200" dirty="0"/>
          </a:p>
        </p:txBody>
      </p:sp>
      <p:sp>
        <p:nvSpPr>
          <p:cNvPr id="4" name="Shape 2"/>
          <p:cNvSpPr/>
          <p:nvPr/>
        </p:nvSpPr>
        <p:spPr>
          <a:xfrm>
            <a:off x="640080" y="1783080"/>
            <a:ext cx="384048" cy="384048"/>
          </a:xfrm>
          <a:prstGeom prst="ellipse">
            <a:avLst/>
          </a:prstGeom>
          <a:solidFill>
            <a:srgbClr val="1E2761"/>
          </a:solidFill>
          <a:ln/>
        </p:spPr>
      </p:sp>
      <p:sp>
        <p:nvSpPr>
          <p:cNvPr id="5" name="Text 3"/>
          <p:cNvSpPr txBox="1"/>
          <p:nvPr/>
        </p:nvSpPr>
        <p:spPr>
          <a:xfrm>
            <a:off x="640080" y="1783080"/>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1</a:t>
            </a:r>
            <a:endParaRPr lang="en-US" sz="1386" dirty="0"/>
          </a:p>
        </p:txBody>
      </p:sp>
      <p:sp>
        <p:nvSpPr>
          <p:cNvPr id="6" name="Text 4"/>
          <p:cNvSpPr txBox="1"/>
          <p:nvPr/>
        </p:nvSpPr>
        <p:spPr>
          <a:xfrm>
            <a:off x="1207008" y="1746504"/>
            <a:ext cx="455371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Plain English, always</a:t>
            </a:r>
            <a:endParaRPr lang="en-US" sz="1400" dirty="0"/>
          </a:p>
        </p:txBody>
      </p:sp>
      <p:sp>
        <p:nvSpPr>
          <p:cNvPr id="7" name="Text 5"/>
          <p:cNvSpPr txBox="1"/>
          <p:nvPr/>
        </p:nvSpPr>
        <p:spPr>
          <a:xfrm>
            <a:off x="1207008" y="2039112"/>
            <a:ext cx="455371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1–4 sentences with the key numbers. The user never sees or is told about SQL unless they open "Show SQL" themselves.</a:t>
            </a:r>
            <a:endParaRPr lang="en-US" sz="1150" dirty="0"/>
          </a:p>
        </p:txBody>
      </p:sp>
      <p:sp>
        <p:nvSpPr>
          <p:cNvPr id="8" name="Shape 6"/>
          <p:cNvSpPr/>
          <p:nvPr/>
        </p:nvSpPr>
        <p:spPr>
          <a:xfrm>
            <a:off x="640080" y="2834640"/>
            <a:ext cx="384048" cy="384048"/>
          </a:xfrm>
          <a:prstGeom prst="ellipse">
            <a:avLst/>
          </a:prstGeom>
          <a:solidFill>
            <a:srgbClr val="1E2761"/>
          </a:solidFill>
          <a:ln/>
        </p:spPr>
      </p:sp>
      <p:sp>
        <p:nvSpPr>
          <p:cNvPr id="9" name="Text 7"/>
          <p:cNvSpPr txBox="1"/>
          <p:nvPr/>
        </p:nvSpPr>
        <p:spPr>
          <a:xfrm>
            <a:off x="640080" y="2834640"/>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2</a:t>
            </a:r>
            <a:endParaRPr lang="en-US" sz="1386" dirty="0"/>
          </a:p>
        </p:txBody>
      </p:sp>
      <p:sp>
        <p:nvSpPr>
          <p:cNvPr id="10" name="Text 8"/>
          <p:cNvSpPr txBox="1"/>
          <p:nvPr/>
        </p:nvSpPr>
        <p:spPr>
          <a:xfrm>
            <a:off x="1207008" y="2798064"/>
            <a:ext cx="455371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The chart type is chosen, not asked for</a:t>
            </a:r>
            <a:endParaRPr lang="en-US" sz="1400" dirty="0"/>
          </a:p>
        </p:txBody>
      </p:sp>
      <p:sp>
        <p:nvSpPr>
          <p:cNvPr id="11" name="Text 9"/>
          <p:cNvSpPr txBox="1"/>
          <p:nvPr/>
        </p:nvSpPr>
        <p:spPr>
          <a:xfrm>
            <a:off x="1207008" y="3090672"/>
            <a:ext cx="455371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"line" for a trend over months, "bar" for comparing items or vendors, "none" for a single number or a list.</a:t>
            </a:r>
            <a:endParaRPr lang="en-US" sz="1150" dirty="0"/>
          </a:p>
        </p:txBody>
      </p:sp>
      <p:sp>
        <p:nvSpPr>
          <p:cNvPr id="12" name="Shape 10"/>
          <p:cNvSpPr/>
          <p:nvPr/>
        </p:nvSpPr>
        <p:spPr>
          <a:xfrm>
            <a:off x="640080" y="3886200"/>
            <a:ext cx="384048" cy="384048"/>
          </a:xfrm>
          <a:prstGeom prst="ellipse">
            <a:avLst/>
          </a:prstGeom>
          <a:solidFill>
            <a:srgbClr val="1E2761"/>
          </a:solidFill>
          <a:ln/>
        </p:spPr>
      </p:sp>
      <p:sp>
        <p:nvSpPr>
          <p:cNvPr id="13" name="Text 11"/>
          <p:cNvSpPr txBox="1"/>
          <p:nvPr/>
        </p:nvSpPr>
        <p:spPr>
          <a:xfrm>
            <a:off x="640080" y="3886200"/>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3</a:t>
            </a:r>
            <a:endParaRPr lang="en-US" sz="1386" dirty="0"/>
          </a:p>
        </p:txBody>
      </p:sp>
      <p:sp>
        <p:nvSpPr>
          <p:cNvPr id="14" name="Text 12"/>
          <p:cNvSpPr txBox="1"/>
          <p:nvPr/>
        </p:nvSpPr>
        <p:spPr>
          <a:xfrm>
            <a:off x="1207008" y="3849624"/>
            <a:ext cx="455371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Empty results get a nudge</a:t>
            </a:r>
            <a:endParaRPr lang="en-US" sz="1400" dirty="0"/>
          </a:p>
        </p:txBody>
      </p:sp>
      <p:sp>
        <p:nvSpPr>
          <p:cNvPr id="15" name="Text 13"/>
          <p:cNvSpPr txBox="1"/>
          <p:nvPr/>
        </p:nvSpPr>
        <p:spPr>
          <a:xfrm>
            <a:off x="1207008" y="4142232"/>
            <a:ext cx="455371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"No matching data was found" plus a nearby suggestion — the demo data only covers April–August 2026.</a:t>
            </a:r>
            <a:endParaRPr lang="en-US" sz="1150" dirty="0"/>
          </a:p>
        </p:txBody>
      </p:sp>
      <p:sp>
        <p:nvSpPr>
          <p:cNvPr id="16" name="Text 14"/>
          <p:cNvSpPr txBox="1"/>
          <p:nvPr/>
        </p:nvSpPr>
        <p:spPr>
          <a:xfrm>
            <a:off x="6080760" y="1691640"/>
            <a:ext cx="5486400" cy="274320"/>
          </a:xfrm>
          <a:prstGeom prst="rect">
            <a:avLst/>
          </a:prstGeom>
          <a:noFill/>
          <a:ln/>
        </p:spPr>
        <p:txBody>
          <a:bodyPr wrap="square" lIns="0" tIns="0" rIns="0" bIns="0" rtlCol="0" anchor="ctr"/>
          <a:lstStyle/>
          <a:p>
            <a:pPr indent="0" marL="0">
              <a:buNone/>
            </a:pPr>
            <a:r>
              <a:rPr lang="en-US" sz="1050" b="1" spc="100" kern="0" dirty="0">
                <a:solidFill>
                  <a:srgbClr val="6B7390"/>
                </a:solidFill>
                <a:latin typeface="Calibri" pitchFamily="34" charset="0"/>
                <a:ea typeface="Calibri" pitchFamily="34" charset="-122"/>
                <a:cs typeface="Calibri" pitchFamily="34" charset="-120"/>
              </a:rPr>
              <a:t>ONE REAL TRANSFORM: LONG ROWS → CHART-READY SERIES</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035040" y="2084832"/>
          <a:ext cx="2606040" cy="914400"/>
        </p:xfrm>
        <a:graphic>
          <a:graphicData uri="http://schemas.openxmlformats.org/drawingml/2006/table">
            <a:tbl>
              <a:tblPr/>
              <a:tblGrid>
                <a:gridCol w="914400"/>
                <a:gridCol w="868680"/>
                <a:gridCol w="82296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month</a:t>
                      </a:r>
                      <a:endParaRPr lang="en-US" sz="950" dirty="0">
                        <a:latin typeface="Calibri" charset="0"/>
                        <a:ea typeface="Calibri" charset="0"/>
                        <a:cs typeface="Calibri"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type</a:t>
                      </a:r>
                      <a:endParaRPr lang="en-US" sz="950" dirty="0">
                        <a:latin typeface="Calibri" charset="0"/>
                        <a:ea typeface="Calibri" charset="0"/>
                        <a:cs typeface="Calibri"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1E2761"/>
                    </a:solidFill>
                  </a:tcPr>
                </a:tc>
              </a:tr>
              <a:tr h="329184">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2026-06</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inbound</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1,240</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2026-06</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outbound</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980</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EEF3FC"/>
                    </a:solidFill>
                  </a:tcPr>
                </a:tc>
              </a:tr>
              <a:tr h="329184">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2026-07</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inbound</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1,310</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2026-07</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outbound</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1,050</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EEF3FC"/>
                    </a:solidFill>
                  </a:tcPr>
                </a:tc>
              </a:tr>
            </a:tbl>
          </a:graphicData>
        </a:graphic>
      </p:graphicFrame>
      <p:sp>
        <p:nvSpPr>
          <p:cNvPr id="18" name="Text 15"/>
          <p:cNvSpPr txBox="1"/>
          <p:nvPr/>
        </p:nvSpPr>
        <p:spPr>
          <a:xfrm>
            <a:off x="8641080" y="2651760"/>
            <a:ext cx="1097280" cy="548640"/>
          </a:xfrm>
          <a:prstGeom prst="rect">
            <a:avLst/>
          </a:prstGeom>
          <a:noFill/>
          <a:ln/>
        </p:spPr>
        <p:txBody>
          <a:bodyPr wrap="square" lIns="0" tIns="0" rIns="0" bIns="0" rtlCol="0" anchor="ctr"/>
          <a:lstStyle/>
          <a:p>
            <a:pPr algn="ctr" indent="0" marL="0">
              <a:lnSpc>
                <a:spcPct val="110000"/>
              </a:lnSpc>
              <a:buNone/>
            </a:pPr>
            <a:r>
              <a:rPr lang="en-US" sz="850" b="1" dirty="0">
                <a:solidFill>
                  <a:srgbClr val="1E2761"/>
                </a:solidFill>
                <a:latin typeface="Consolas" pitchFamily="34" charset="0"/>
                <a:ea typeface="Consolas" pitchFamily="34" charset="-122"/>
                <a:cs typeface="Consolas" pitchFamily="34" charset="-120"/>
              </a:rPr>
              <a:t>pivot_if_</a:t>
            </a:r>
            <a:endParaRPr lang="en-US" sz="850" dirty="0"/>
          </a:p>
          <a:p>
            <a:pPr algn="ctr" indent="0" marL="0">
              <a:lnSpc>
                <a:spcPct val="110000"/>
              </a:lnSpc>
              <a:buNone/>
            </a:pPr>
            <a:r>
              <a:rPr lang="en-US" sz="850" b="1" dirty="0">
                <a:solidFill>
                  <a:srgbClr val="1E2761"/>
                </a:solidFill>
                <a:latin typeface="Consolas" pitchFamily="34" charset="0"/>
                <a:ea typeface="Consolas" pitchFamily="34" charset="-122"/>
                <a:cs typeface="Consolas" pitchFamily="34" charset="-120"/>
              </a:rPr>
              <a:t>needed()</a:t>
            </a:r>
            <a:endParaRPr lang="en-US" sz="850" dirty="0"/>
          </a:p>
        </p:txBody>
      </p:sp>
      <p:sp>
        <p:nvSpPr>
          <p:cNvPr id="19" name="Text 16"/>
          <p:cNvSpPr txBox="1"/>
          <p:nvPr/>
        </p:nvSpPr>
        <p:spPr>
          <a:xfrm>
            <a:off x="8641080" y="2286000"/>
            <a:ext cx="1097280" cy="320040"/>
          </a:xfrm>
          <a:prstGeom prst="rect">
            <a:avLst/>
          </a:prstGeom>
          <a:noFill/>
          <a:ln/>
        </p:spPr>
        <p:txBody>
          <a:bodyPr wrap="square" lIns="0" tIns="0" rIns="0" bIns="0" rtlCol="0" anchor="ctr"/>
          <a:lstStyle/>
          <a:p>
            <a:pPr algn="ctr" indent="0" marL="0">
              <a:buNone/>
            </a:pPr>
            <a:r>
              <a:rPr lang="en-US" sz="1600" dirty="0">
                <a:solidFill>
                  <a:srgbClr val="6B7390"/>
                </a:solidFill>
                <a:latin typeface="Calibri" pitchFamily="34" charset="0"/>
                <a:ea typeface="Calibri" pitchFamily="34" charset="-122"/>
                <a:cs typeface="Calibri" pitchFamily="34" charset="-120"/>
              </a:rPr>
              <a:t>→</a:t>
            </a:r>
            <a:endParaRPr lang="en-US" sz="16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9738360" y="2084832"/>
          <a:ext cx="2148840" cy="914400"/>
        </p:xfrm>
        <a:graphic>
          <a:graphicData uri="http://schemas.openxmlformats.org/drawingml/2006/table">
            <a:tbl>
              <a:tblPr/>
              <a:tblGrid>
                <a:gridCol w="777240"/>
                <a:gridCol w="685800"/>
                <a:gridCol w="68580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month</a:t>
                      </a:r>
                      <a:endParaRPr lang="en-US" sz="950" dirty="0">
                        <a:latin typeface="Calibri" charset="0"/>
                        <a:ea typeface="Calibri" charset="0"/>
                        <a:cs typeface="Calibri"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F2A93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inbound</a:t>
                      </a:r>
                      <a:endParaRPr lang="en-US" sz="950" dirty="0">
                        <a:latin typeface="Calibri" charset="0"/>
                        <a:ea typeface="Calibri" charset="0"/>
                        <a:cs typeface="Calibri"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F2A93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outbound</a:t>
                      </a:r>
                      <a:endParaRPr lang="en-US" sz="950" dirty="0">
                        <a:latin typeface="Calibri" charset="0"/>
                        <a:ea typeface="Calibri" charset="0"/>
                        <a:cs typeface="Calibri"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F2A93C"/>
                    </a:solidFill>
                  </a:tcPr>
                </a:tc>
              </a:tr>
              <a:tr h="329184">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2026-06</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1,240</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FFFFFF"/>
                    </a:solidFill>
                  </a:tcPr>
                </a:tc>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980</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2026-07</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1,310</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EEF3FC"/>
                    </a:solidFill>
                  </a:tcPr>
                </a:tc>
                <a:tc>
                  <a:txBody>
                    <a:bodyPr/>
                    <a:lstStyle/>
                    <a:p>
                      <a:pPr indent="0" marL="0">
                        <a:buNone/>
                      </a:pPr>
                      <a:r>
                        <a:rPr lang="en-US" sz="950" dirty="0">
                          <a:solidFill>
                            <a:srgbClr val="24273A"/>
                          </a:solidFill>
                          <a:latin typeface="Consolas" pitchFamily="34" charset="0"/>
                          <a:ea typeface="Consolas" pitchFamily="34" charset="-122"/>
                          <a:cs typeface="Consolas" pitchFamily="34" charset="-120"/>
                        </a:rPr>
                        <a:t>1,050</a:t>
                      </a:r>
                      <a:endParaRPr lang="en-US" sz="950" dirty="0">
                        <a:latin typeface="Consolas" charset="0"/>
                        <a:ea typeface="Consolas" charset="0"/>
                        <a:cs typeface="Consolas" charset="0"/>
                      </a:endParaRPr>
                    </a:p>
                  </a:txBody>
                  <a:tcPr marL="63500" marR="63500" marT="38100" marB="38100" anchor="ctr">
                    <a:lnL w="6350" cap="flat" cmpd="sng" algn="ctr">
                      <a:solidFill>
                        <a:srgbClr val="D7DFF2"/>
                      </a:solidFill>
                      <a:prstDash val="solid"/>
                      <a:round/>
                      <a:headEnd type="none" w="med" len="med"/>
                      <a:tailEnd type="none" w="med" len="med"/>
                    </a:lnL>
                    <a:lnR w="6350" cap="flat" cmpd="sng" algn="ctr">
                      <a:solidFill>
                        <a:srgbClr val="D7DFF2"/>
                      </a:solidFill>
                      <a:prstDash val="solid"/>
                      <a:round/>
                      <a:headEnd type="none" w="med" len="med"/>
                      <a:tailEnd type="none" w="med" len="med"/>
                    </a:lnR>
                    <a:lnT w="6350" cap="flat" cmpd="sng" algn="ctr">
                      <a:solidFill>
                        <a:srgbClr val="D7DFF2"/>
                      </a:solidFill>
                      <a:prstDash val="solid"/>
                      <a:round/>
                      <a:headEnd type="none" w="med" len="med"/>
                      <a:tailEnd type="none" w="med" len="med"/>
                    </a:lnT>
                    <a:lnB w="6350" cap="flat" cmpd="sng" algn="ctr">
                      <a:solidFill>
                        <a:srgbClr val="D7DFF2"/>
                      </a:solidFill>
                      <a:prstDash val="solid"/>
                      <a:round/>
                      <a:headEnd type="none" w="med" len="med"/>
                      <a:tailEnd type="none" w="med" len="med"/>
                    </a:lnB>
                    <a:solidFill>
                      <a:srgbClr val="EEF3FC"/>
                    </a:solidFill>
                  </a:tcPr>
                </a:tc>
              </a:tr>
            </a:tbl>
          </a:graphicData>
        </a:graphic>
      </p:graphicFrame>
      <p:sp>
        <p:nvSpPr>
          <p:cNvPr id="21" name="Text 17"/>
          <p:cNvSpPr txBox="1"/>
          <p:nvPr/>
        </p:nvSpPr>
        <p:spPr>
          <a:xfrm>
            <a:off x="6080760" y="3749040"/>
            <a:ext cx="5486400" cy="502920"/>
          </a:xfrm>
          <a:prstGeom prst="rect">
            <a:avLst/>
          </a:prstGeom>
          <a:noFill/>
          <a:ln/>
        </p:spPr>
        <p:txBody>
          <a:bodyPr wrap="square" lIns="0" tIns="0" rIns="0" bIns="0" rtlCol="0" anchor="ctr"/>
          <a:lstStyle/>
          <a:p>
            <a:pPr indent="0" marL="0">
              <a:lnSpc>
                <a:spcPct val="120000"/>
              </a:lnSpc>
              <a:buNone/>
            </a:pPr>
            <a:r>
              <a:rPr lang="en-US" sz="1050" i="1" dirty="0">
                <a:solidFill>
                  <a:srgbClr val="6B7390"/>
                </a:solidFill>
                <a:latin typeface="Calibri" pitchFamily="34" charset="0"/>
                <a:ea typeface="Calibri" pitchFamily="34" charset="-122"/>
                <a:cs typeface="Calibri" pitchFamily="34" charset="-120"/>
              </a:rPr>
              <a:t>Two lines on one chart — inbound and outbound — instead of one line the chart library can't split by series.</a:t>
            </a:r>
            <a:endParaRPr lang="en-US" sz="1050" dirty="0"/>
          </a:p>
        </p:txBody>
      </p:sp>
      <p:sp>
        <p:nvSpPr>
          <p:cNvPr id="22" name="Shape 18"/>
          <p:cNvSpPr/>
          <p:nvPr/>
        </p:nvSpPr>
        <p:spPr>
          <a:xfrm>
            <a:off x="6080760" y="4480560"/>
            <a:ext cx="5486400" cy="1371600"/>
          </a:xfrm>
          <a:prstGeom prst="roundRect">
            <a:avLst>
              <a:gd name="adj" fmla="val 5333"/>
            </a:avLst>
          </a:prstGeom>
          <a:solidFill>
            <a:srgbClr val="EEF3FC"/>
          </a:solidFill>
          <a:ln/>
          <a:effectLst>
            <a:outerShdw sx="100000" sy="100000" kx="0" ky="0" algn="bl" rotWithShape="0" blurRad="76200" dist="25400" dir="5400000">
              <a:srgbClr val="8B93B8">
                <a:alpha val="18000"/>
              </a:srgbClr>
            </a:outerShdw>
          </a:effectLst>
        </p:spPr>
      </p:sp>
      <p:sp>
        <p:nvSpPr>
          <p:cNvPr id="23" name="Text 19"/>
          <p:cNvSpPr txBox="1"/>
          <p:nvPr/>
        </p:nvSpPr>
        <p:spPr>
          <a:xfrm>
            <a:off x="6309360" y="4590288"/>
            <a:ext cx="5029200" cy="274320"/>
          </a:xfrm>
          <a:prstGeom prst="rect">
            <a:avLst/>
          </a:prstGeom>
          <a:noFill/>
          <a:ln/>
        </p:spPr>
        <p:txBody>
          <a:bodyPr wrap="square" lIns="0" tIns="0" rIns="0" bIns="0" rtlCol="0" anchor="ctr"/>
          <a:lstStyle/>
          <a:p>
            <a:pPr indent="0" marL="0">
              <a:buNone/>
            </a:pPr>
            <a:r>
              <a:rPr lang="en-US" sz="1100" b="1" dirty="0">
                <a:solidFill>
                  <a:srgbClr val="24273A"/>
                </a:solidFill>
                <a:latin typeface="Calibri" pitchFamily="34" charset="0"/>
                <a:ea typeface="Calibri" pitchFamily="34" charset="-122"/>
                <a:cs typeface="Calibri" pitchFamily="34" charset="-120"/>
              </a:rPr>
              <a:t>Charts only render when the shape is unambiguous</a:t>
            </a:r>
            <a:endParaRPr lang="en-US" sz="1100" dirty="0"/>
          </a:p>
        </p:txBody>
      </p:sp>
      <p:sp>
        <p:nvSpPr>
          <p:cNvPr id="24" name="Text 20"/>
          <p:cNvSpPr txBox="1"/>
          <p:nvPr/>
        </p:nvSpPr>
        <p:spPr>
          <a:xfrm>
            <a:off x="6309360" y="4882896"/>
            <a:ext cx="5029200" cy="868680"/>
          </a:xfrm>
          <a:prstGeom prst="rect">
            <a:avLst/>
          </a:prstGeom>
          <a:noFill/>
          <a:ln/>
        </p:spPr>
        <p:txBody>
          <a:bodyPr wrap="square" lIns="0" tIns="0" rIns="0" bIns="0" rtlCol="0" anchor="ctr"/>
          <a:lstStyle/>
          <a:p>
            <a:pPr indent="0" marL="0">
              <a:lnSpc>
                <a:spcPct val="120000"/>
              </a:lnSpc>
              <a:buNone/>
            </a:pPr>
            <a:r>
              <a:rPr lang="en-US" sz="1000" dirty="0">
                <a:solidFill>
                  <a:srgbClr val="6B7390"/>
                </a:solidFill>
                <a:latin typeface="Calibri" pitchFamily="34" charset="0"/>
                <a:ea typeface="Calibri" pitchFamily="34" charset="-122"/>
                <a:cs typeface="Calibri" pitchFamily="34" charset="-120"/>
              </a:rPr>
              <a:t>If the x-axis values repeat and can't be pivoted into a clean series (too many categories, or ambiguous columns), the code drops the chart rather than render something misleading.</a:t>
            </a:r>
            <a:endParaRPr lang="en-US" sz="1000" dirty="0"/>
          </a:p>
        </p:txBody>
      </p:sp>
      <p:sp>
        <p:nvSpPr>
          <p:cNvPr id="25" name="Text 21"/>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39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26" name="Text 22"/>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39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A93C"/>
                </a:solidFill>
                <a:latin typeface="Calibri" pitchFamily="34" charset="0"/>
                <a:ea typeface="Calibri" pitchFamily="34" charset="-122"/>
                <a:cs typeface="Calibri" pitchFamily="34" charset="-120"/>
              </a:rPr>
              <a:t>BUILD STEP 7 OF 7</a:t>
            </a:r>
            <a:endParaRPr lang="en-US" sz="1200" dirty="0"/>
          </a:p>
        </p:txBody>
      </p:sp>
      <p:sp>
        <p:nvSpPr>
          <p:cNvPr id="3" name="Text 1"/>
          <p:cNvSpPr txBox="1"/>
          <p:nvPr/>
        </p:nvSpPr>
        <p:spPr>
          <a:xfrm>
            <a:off x="640080" y="749808"/>
            <a:ext cx="1051560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Connect the API to the chat UI</a:t>
            </a:r>
            <a:endParaRPr lang="en-US" sz="3200" dirty="0"/>
          </a:p>
        </p:txBody>
      </p:sp>
      <p:sp>
        <p:nvSpPr>
          <p:cNvPr id="4" name="Text 2"/>
          <p:cNvSpPr txBox="1"/>
          <p:nvPr/>
        </p:nvSpPr>
        <p:spPr>
          <a:xfrm>
            <a:off x="640080" y="1600200"/>
            <a:ext cx="5394960" cy="274320"/>
          </a:xfrm>
          <a:prstGeom prst="rect">
            <a:avLst/>
          </a:prstGeom>
          <a:noFill/>
          <a:ln/>
        </p:spPr>
        <p:txBody>
          <a:bodyPr wrap="square" lIns="0" tIns="0" rIns="0" bIns="0" rtlCol="0" anchor="ctr"/>
          <a:lstStyle/>
          <a:p>
            <a:pPr indent="0" marL="0">
              <a:buNone/>
            </a:pPr>
            <a:r>
              <a:rPr lang="en-US" sz="1100" b="1" spc="100" kern="0" dirty="0">
                <a:solidFill>
                  <a:srgbClr val="6B7390"/>
                </a:solidFill>
                <a:latin typeface="Calibri" pitchFamily="34" charset="0"/>
                <a:ea typeface="Calibri" pitchFamily="34" charset="-122"/>
                <a:cs typeface="Calibri" pitchFamily="34" charset="-120"/>
              </a:rPr>
              <a:t>FOUR ENDPOINTS</a:t>
            </a:r>
            <a:endParaRPr lang="en-US" sz="1100" dirty="0"/>
          </a:p>
        </p:txBody>
      </p:sp>
      <p:sp>
        <p:nvSpPr>
          <p:cNvPr id="5" name="Shape 3"/>
          <p:cNvSpPr/>
          <p:nvPr/>
        </p:nvSpPr>
        <p:spPr>
          <a:xfrm>
            <a:off x="640080" y="1965960"/>
            <a:ext cx="777240" cy="384048"/>
          </a:xfrm>
          <a:prstGeom prst="roundRect">
            <a:avLst>
              <a:gd name="adj" fmla="val 50000"/>
            </a:avLst>
          </a:prstGeom>
          <a:solidFill>
            <a:srgbClr val="127C5A"/>
          </a:solidFill>
          <a:ln/>
        </p:spPr>
      </p:sp>
      <p:sp>
        <p:nvSpPr>
          <p:cNvPr id="6" name="Text 4"/>
          <p:cNvSpPr txBox="1"/>
          <p:nvPr/>
        </p:nvSpPr>
        <p:spPr>
          <a:xfrm>
            <a:off x="640080" y="1965960"/>
            <a:ext cx="77724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GET</a:t>
            </a:r>
            <a:endParaRPr lang="en-US" sz="1050" dirty="0"/>
          </a:p>
        </p:txBody>
      </p:sp>
      <p:sp>
        <p:nvSpPr>
          <p:cNvPr id="7" name="Text 5"/>
          <p:cNvSpPr txBox="1"/>
          <p:nvPr/>
        </p:nvSpPr>
        <p:spPr>
          <a:xfrm>
            <a:off x="1554480" y="1965960"/>
            <a:ext cx="1737360" cy="384048"/>
          </a:xfrm>
          <a:prstGeom prst="rect">
            <a:avLst/>
          </a:prstGeom>
          <a:noFill/>
          <a:ln/>
        </p:spPr>
        <p:txBody>
          <a:bodyPr wrap="square" lIns="0" tIns="0" rIns="0" bIns="0" rtlCol="0" anchor="ctr"/>
          <a:lstStyle/>
          <a:p>
            <a:pPr indent="0" marL="0">
              <a:buNone/>
            </a:pPr>
            <a:r>
              <a:rPr lang="en-US" sz="1200" b="1" dirty="0">
                <a:solidFill>
                  <a:srgbClr val="24273A"/>
                </a:solidFill>
                <a:latin typeface="Consolas" pitchFamily="34" charset="0"/>
                <a:ea typeface="Consolas" pitchFamily="34" charset="-122"/>
                <a:cs typeface="Consolas" pitchFamily="34" charset="-120"/>
              </a:rPr>
              <a:t>/roles</a:t>
            </a:r>
            <a:endParaRPr lang="en-US" sz="1200" dirty="0"/>
          </a:p>
        </p:txBody>
      </p:sp>
      <p:sp>
        <p:nvSpPr>
          <p:cNvPr id="8" name="Text 6"/>
          <p:cNvSpPr txBox="1"/>
          <p:nvPr/>
        </p:nvSpPr>
        <p:spPr>
          <a:xfrm>
            <a:off x="3337560" y="1965960"/>
            <a:ext cx="2697480" cy="384048"/>
          </a:xfrm>
          <a:prstGeom prst="rect">
            <a:avLst/>
          </a:prstGeom>
          <a:noFill/>
          <a:ln/>
        </p:spPr>
        <p:txBody>
          <a:bodyPr wrap="square" lIns="0" tIns="0" rIns="0" bIns="0" rtlCol="0" anchor="ctr"/>
          <a:lstStyle/>
          <a:p>
            <a:pPr indent="0" marL="0">
              <a:lnSpc>
                <a:spcPct val="110000"/>
              </a:lnSpc>
              <a:buNone/>
            </a:pPr>
            <a:r>
              <a:rPr lang="en-US" sz="950" dirty="0">
                <a:solidFill>
                  <a:srgbClr val="6B7390"/>
                </a:solidFill>
                <a:latin typeface="Calibri" pitchFamily="34" charset="0"/>
                <a:ea typeface="Calibri" pitchFamily="34" charset="-122"/>
                <a:cs typeface="Calibri" pitchFamily="34" charset="-120"/>
              </a:rPr>
              <a:t>role list + suggested questions, for the dropdown and chips</a:t>
            </a:r>
            <a:endParaRPr lang="en-US" sz="950" dirty="0"/>
          </a:p>
        </p:txBody>
      </p:sp>
      <p:sp>
        <p:nvSpPr>
          <p:cNvPr id="9" name="Shape 7"/>
          <p:cNvSpPr/>
          <p:nvPr/>
        </p:nvSpPr>
        <p:spPr>
          <a:xfrm>
            <a:off x="640080" y="2532888"/>
            <a:ext cx="777240" cy="384048"/>
          </a:xfrm>
          <a:prstGeom prst="roundRect">
            <a:avLst>
              <a:gd name="adj" fmla="val 50000"/>
            </a:avLst>
          </a:prstGeom>
          <a:solidFill>
            <a:srgbClr val="1E2761"/>
          </a:solidFill>
          <a:ln/>
        </p:spPr>
      </p:sp>
      <p:sp>
        <p:nvSpPr>
          <p:cNvPr id="10" name="Text 8"/>
          <p:cNvSpPr txBox="1"/>
          <p:nvPr/>
        </p:nvSpPr>
        <p:spPr>
          <a:xfrm>
            <a:off x="640080" y="2532888"/>
            <a:ext cx="77724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POST</a:t>
            </a:r>
            <a:endParaRPr lang="en-US" sz="1050" dirty="0"/>
          </a:p>
        </p:txBody>
      </p:sp>
      <p:sp>
        <p:nvSpPr>
          <p:cNvPr id="11" name="Text 9"/>
          <p:cNvSpPr txBox="1"/>
          <p:nvPr/>
        </p:nvSpPr>
        <p:spPr>
          <a:xfrm>
            <a:off x="1554480" y="2532888"/>
            <a:ext cx="1737360" cy="384048"/>
          </a:xfrm>
          <a:prstGeom prst="rect">
            <a:avLst/>
          </a:prstGeom>
          <a:noFill/>
          <a:ln/>
        </p:spPr>
        <p:txBody>
          <a:bodyPr wrap="square" lIns="0" tIns="0" rIns="0" bIns="0" rtlCol="0" anchor="ctr"/>
          <a:lstStyle/>
          <a:p>
            <a:pPr indent="0" marL="0">
              <a:buNone/>
            </a:pPr>
            <a:r>
              <a:rPr lang="en-US" sz="1200" b="1" dirty="0">
                <a:solidFill>
                  <a:srgbClr val="24273A"/>
                </a:solidFill>
                <a:latin typeface="Consolas" pitchFamily="34" charset="0"/>
                <a:ea typeface="Consolas" pitchFamily="34" charset="-122"/>
                <a:cs typeface="Consolas" pitchFamily="34" charset="-120"/>
              </a:rPr>
              <a:t>/chat</a:t>
            </a:r>
            <a:endParaRPr lang="en-US" sz="1200" dirty="0"/>
          </a:p>
        </p:txBody>
      </p:sp>
      <p:sp>
        <p:nvSpPr>
          <p:cNvPr id="12" name="Text 10"/>
          <p:cNvSpPr txBox="1"/>
          <p:nvPr/>
        </p:nvSpPr>
        <p:spPr>
          <a:xfrm>
            <a:off x="3337560" y="2532888"/>
            <a:ext cx="2697480" cy="384048"/>
          </a:xfrm>
          <a:prstGeom prst="rect">
            <a:avLst/>
          </a:prstGeom>
          <a:noFill/>
          <a:ln/>
        </p:spPr>
        <p:txBody>
          <a:bodyPr wrap="square" lIns="0" tIns="0" rIns="0" bIns="0" rtlCol="0" anchor="ctr"/>
          <a:lstStyle/>
          <a:p>
            <a:pPr indent="0" marL="0">
              <a:lnSpc>
                <a:spcPct val="110000"/>
              </a:lnSpc>
              <a:buNone/>
            </a:pPr>
            <a:r>
              <a:rPr lang="en-US" sz="950" dirty="0">
                <a:solidFill>
                  <a:srgbClr val="6B7390"/>
                </a:solidFill>
                <a:latin typeface="Calibri" pitchFamily="34" charset="0"/>
                <a:ea typeface="Calibri" pitchFamily="34" charset="-122"/>
                <a:cs typeface="Calibri" pitchFamily="34" charset="-120"/>
              </a:rPr>
              <a:t>question + role + last 6 turns → answer, chart, SQL</a:t>
            </a:r>
            <a:endParaRPr lang="en-US" sz="950" dirty="0"/>
          </a:p>
        </p:txBody>
      </p:sp>
      <p:sp>
        <p:nvSpPr>
          <p:cNvPr id="13" name="Shape 11"/>
          <p:cNvSpPr/>
          <p:nvPr/>
        </p:nvSpPr>
        <p:spPr>
          <a:xfrm>
            <a:off x="640080" y="3099816"/>
            <a:ext cx="777240" cy="384048"/>
          </a:xfrm>
          <a:prstGeom prst="roundRect">
            <a:avLst>
              <a:gd name="adj" fmla="val 50000"/>
            </a:avLst>
          </a:prstGeom>
          <a:solidFill>
            <a:srgbClr val="1E2761"/>
          </a:solidFill>
          <a:ln/>
        </p:spPr>
      </p:sp>
      <p:sp>
        <p:nvSpPr>
          <p:cNvPr id="14" name="Text 12"/>
          <p:cNvSpPr txBox="1"/>
          <p:nvPr/>
        </p:nvSpPr>
        <p:spPr>
          <a:xfrm>
            <a:off x="640080" y="3099816"/>
            <a:ext cx="77724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POST</a:t>
            </a:r>
            <a:endParaRPr lang="en-US" sz="1050" dirty="0"/>
          </a:p>
        </p:txBody>
      </p:sp>
      <p:sp>
        <p:nvSpPr>
          <p:cNvPr id="15" name="Text 13"/>
          <p:cNvSpPr txBox="1"/>
          <p:nvPr/>
        </p:nvSpPr>
        <p:spPr>
          <a:xfrm>
            <a:off x="1554480" y="3099816"/>
            <a:ext cx="1737360" cy="384048"/>
          </a:xfrm>
          <a:prstGeom prst="rect">
            <a:avLst/>
          </a:prstGeom>
          <a:noFill/>
          <a:ln/>
        </p:spPr>
        <p:txBody>
          <a:bodyPr wrap="square" lIns="0" tIns="0" rIns="0" bIns="0" rtlCol="0" anchor="ctr"/>
          <a:lstStyle/>
          <a:p>
            <a:pPr indent="0" marL="0">
              <a:buNone/>
            </a:pPr>
            <a:r>
              <a:rPr lang="en-US" sz="1200" b="1" dirty="0">
                <a:solidFill>
                  <a:srgbClr val="24273A"/>
                </a:solidFill>
                <a:latin typeface="Consolas" pitchFamily="34" charset="0"/>
                <a:ea typeface="Consolas" pitchFamily="34" charset="-122"/>
                <a:cs typeface="Consolas" pitchFamily="34" charset="-120"/>
              </a:rPr>
              <a:t>/confirm</a:t>
            </a:r>
            <a:endParaRPr lang="en-US" sz="1200" dirty="0"/>
          </a:p>
        </p:txBody>
      </p:sp>
      <p:sp>
        <p:nvSpPr>
          <p:cNvPr id="16" name="Text 14"/>
          <p:cNvSpPr txBox="1"/>
          <p:nvPr/>
        </p:nvSpPr>
        <p:spPr>
          <a:xfrm>
            <a:off x="3337560" y="3099816"/>
            <a:ext cx="2697480" cy="384048"/>
          </a:xfrm>
          <a:prstGeom prst="rect">
            <a:avLst/>
          </a:prstGeom>
          <a:noFill/>
          <a:ln/>
        </p:spPr>
        <p:txBody>
          <a:bodyPr wrap="square" lIns="0" tIns="0" rIns="0" bIns="0" rtlCol="0" anchor="ctr"/>
          <a:lstStyle/>
          <a:p>
            <a:pPr indent="0" marL="0">
              <a:lnSpc>
                <a:spcPct val="110000"/>
              </a:lnSpc>
              <a:buNone/>
            </a:pPr>
            <a:r>
              <a:rPr lang="en-US" sz="950" dirty="0">
                <a:solidFill>
                  <a:srgbClr val="6B7390"/>
                </a:solidFill>
                <a:latin typeface="Calibri" pitchFamily="34" charset="0"/>
                <a:ea typeface="Calibri" pitchFamily="34" charset="-122"/>
                <a:cs typeface="Calibri" pitchFamily="34" charset="-120"/>
              </a:rPr>
              <a:t>runs a write only after the user clicks Confirm</a:t>
            </a:r>
            <a:endParaRPr lang="en-US" sz="950" dirty="0"/>
          </a:p>
        </p:txBody>
      </p:sp>
      <p:sp>
        <p:nvSpPr>
          <p:cNvPr id="17" name="Shape 15"/>
          <p:cNvSpPr/>
          <p:nvPr/>
        </p:nvSpPr>
        <p:spPr>
          <a:xfrm>
            <a:off x="640080" y="3666744"/>
            <a:ext cx="777240" cy="384048"/>
          </a:xfrm>
          <a:prstGeom prst="roundRect">
            <a:avLst>
              <a:gd name="adj" fmla="val 50000"/>
            </a:avLst>
          </a:prstGeom>
          <a:solidFill>
            <a:srgbClr val="127C5A"/>
          </a:solidFill>
          <a:ln/>
        </p:spPr>
      </p:sp>
      <p:sp>
        <p:nvSpPr>
          <p:cNvPr id="18" name="Text 16"/>
          <p:cNvSpPr txBox="1"/>
          <p:nvPr/>
        </p:nvSpPr>
        <p:spPr>
          <a:xfrm>
            <a:off x="640080" y="3666744"/>
            <a:ext cx="77724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GET</a:t>
            </a:r>
            <a:endParaRPr lang="en-US" sz="1050" dirty="0"/>
          </a:p>
        </p:txBody>
      </p:sp>
      <p:sp>
        <p:nvSpPr>
          <p:cNvPr id="19" name="Text 17"/>
          <p:cNvSpPr txBox="1"/>
          <p:nvPr/>
        </p:nvSpPr>
        <p:spPr>
          <a:xfrm>
            <a:off x="1554480" y="3666744"/>
            <a:ext cx="1737360" cy="384048"/>
          </a:xfrm>
          <a:prstGeom prst="rect">
            <a:avLst/>
          </a:prstGeom>
          <a:noFill/>
          <a:ln/>
        </p:spPr>
        <p:txBody>
          <a:bodyPr wrap="square" lIns="0" tIns="0" rIns="0" bIns="0" rtlCol="0" anchor="ctr"/>
          <a:lstStyle/>
          <a:p>
            <a:pPr indent="0" marL="0">
              <a:buNone/>
            </a:pPr>
            <a:r>
              <a:rPr lang="en-US" sz="1200" b="1" dirty="0">
                <a:solidFill>
                  <a:srgbClr val="24273A"/>
                </a:solidFill>
                <a:latin typeface="Consolas" pitchFamily="34" charset="0"/>
                <a:ea typeface="Consolas" pitchFamily="34" charset="-122"/>
                <a:cs typeface="Consolas" pitchFamily="34" charset="-120"/>
              </a:rPr>
              <a:t>/health</a:t>
            </a:r>
            <a:endParaRPr lang="en-US" sz="1200" dirty="0"/>
          </a:p>
        </p:txBody>
      </p:sp>
      <p:sp>
        <p:nvSpPr>
          <p:cNvPr id="20" name="Text 18"/>
          <p:cNvSpPr txBox="1"/>
          <p:nvPr/>
        </p:nvSpPr>
        <p:spPr>
          <a:xfrm>
            <a:off x="3337560" y="3666744"/>
            <a:ext cx="2697480" cy="384048"/>
          </a:xfrm>
          <a:prstGeom prst="rect">
            <a:avLst/>
          </a:prstGeom>
          <a:noFill/>
          <a:ln/>
        </p:spPr>
        <p:txBody>
          <a:bodyPr wrap="square" lIns="0" tIns="0" rIns="0" bIns="0" rtlCol="0" anchor="ctr"/>
          <a:lstStyle/>
          <a:p>
            <a:pPr indent="0" marL="0">
              <a:lnSpc>
                <a:spcPct val="110000"/>
              </a:lnSpc>
              <a:buNone/>
            </a:pPr>
            <a:r>
              <a:rPr lang="en-US" sz="950" dirty="0">
                <a:solidFill>
                  <a:srgbClr val="6B7390"/>
                </a:solidFill>
                <a:latin typeface="Calibri" pitchFamily="34" charset="0"/>
                <a:ea typeface="Calibri" pitchFamily="34" charset="-122"/>
                <a:cs typeface="Calibri" pitchFamily="34" charset="-120"/>
              </a:rPr>
              <a:t>used by the frontend to say "backend not running"</a:t>
            </a:r>
            <a:endParaRPr lang="en-US" sz="950" dirty="0"/>
          </a:p>
        </p:txBody>
      </p:sp>
      <p:sp>
        <p:nvSpPr>
          <p:cNvPr id="21" name="Shape 19"/>
          <p:cNvSpPr/>
          <p:nvPr/>
        </p:nvSpPr>
        <p:spPr>
          <a:xfrm>
            <a:off x="640080" y="4434840"/>
            <a:ext cx="5394960" cy="1417320"/>
          </a:xfrm>
          <a:prstGeom prst="roundRect">
            <a:avLst>
              <a:gd name="adj" fmla="val 5161"/>
            </a:avLst>
          </a:prstGeom>
          <a:solidFill>
            <a:srgbClr val="EEF3FC"/>
          </a:solidFill>
          <a:ln/>
          <a:effectLst>
            <a:outerShdw sx="100000" sy="100000" kx="0" ky="0" algn="bl" rotWithShape="0" blurRad="76200" dist="25400" dir="5400000">
              <a:srgbClr val="8B93B8">
                <a:alpha val="18000"/>
              </a:srgbClr>
            </a:outerShdw>
          </a:effectLst>
        </p:spPr>
      </p:sp>
      <p:sp>
        <p:nvSpPr>
          <p:cNvPr id="22" name="Text 20"/>
          <p:cNvSpPr txBox="1"/>
          <p:nvPr/>
        </p:nvSpPr>
        <p:spPr>
          <a:xfrm>
            <a:off x="868680" y="4572000"/>
            <a:ext cx="4937760" cy="274320"/>
          </a:xfrm>
          <a:prstGeom prst="rect">
            <a:avLst/>
          </a:prstGeom>
          <a:noFill/>
          <a:ln/>
        </p:spPr>
        <p:txBody>
          <a:bodyPr wrap="square" lIns="0" tIns="0" rIns="0" bIns="0" rtlCol="0" anchor="ctr"/>
          <a:lstStyle/>
          <a:p>
            <a:pPr indent="0" marL="0">
              <a:buNone/>
            </a:pPr>
            <a:r>
              <a:rPr lang="en-US" sz="1100" b="1" dirty="0">
                <a:solidFill>
                  <a:srgbClr val="24273A"/>
                </a:solidFill>
                <a:latin typeface="Calibri" pitchFamily="34" charset="0"/>
                <a:ea typeface="Calibri" pitchFamily="34" charset="-122"/>
                <a:cs typeface="Calibri" pitchFamily="34" charset="-120"/>
              </a:rPr>
              <a:t>The UI decisions that carry the safety model through</a:t>
            </a:r>
            <a:endParaRPr lang="en-US" sz="1100" dirty="0"/>
          </a:p>
        </p:txBody>
      </p:sp>
      <p:sp>
        <p:nvSpPr>
          <p:cNvPr id="23" name="Text 21"/>
          <p:cNvSpPr txBox="1"/>
          <p:nvPr/>
        </p:nvSpPr>
        <p:spPr>
          <a:xfrm>
            <a:off x="868680" y="4864608"/>
            <a:ext cx="4937760" cy="914400"/>
          </a:xfrm>
          <a:prstGeom prst="rect">
            <a:avLst/>
          </a:prstGeom>
          <a:noFill/>
          <a:ln/>
        </p:spPr>
        <p:txBody>
          <a:bodyPr wrap="square" lIns="0" tIns="0" rIns="0" bIns="0" rtlCol="0" anchor="ctr"/>
          <a:lstStyle/>
          <a:p>
            <a:pPr indent="0" marL="0">
              <a:lnSpc>
                <a:spcPct val="120000"/>
              </a:lnSpc>
              <a:buNone/>
            </a:pPr>
            <a:r>
              <a:rPr lang="en-US" sz="1000" dirty="0">
                <a:solidFill>
                  <a:srgbClr val="24273A"/>
                </a:solidFill>
                <a:latin typeface="Calibri" pitchFamily="34" charset="0"/>
                <a:ea typeface="Calibri" pitchFamily="34" charset="-122"/>
                <a:cs typeface="Calibri" pitchFamily="34" charset="-120"/>
              </a:rPr>
              <a:t>Switching role clears the chat — a new person is "logging in". Writes always render a Confirm / Cancel pair; nothing saves on the first click.</a:t>
            </a:r>
            <a:endParaRPr lang="en-US" sz="1000" dirty="0"/>
          </a:p>
        </p:txBody>
      </p:sp>
      <p:sp>
        <p:nvSpPr>
          <p:cNvPr id="24" name="Shape 22"/>
          <p:cNvSpPr/>
          <p:nvPr/>
        </p:nvSpPr>
        <p:spPr>
          <a:xfrm>
            <a:off x="6400800" y="1600200"/>
            <a:ext cx="5166360" cy="4800600"/>
          </a:xfrm>
          <a:prstGeom prst="roundRect">
            <a:avLst>
              <a:gd name="adj" fmla="val 1524"/>
            </a:avLst>
          </a:prstGeom>
          <a:solidFill>
            <a:srgbClr val="1E2761"/>
          </a:solidFill>
          <a:ln/>
          <a:effectLst>
            <a:outerShdw sx="100000" sy="100000" kx="0" ky="0" algn="bl" rotWithShape="0" blurRad="76200" dist="25400" dir="5400000">
              <a:srgbClr val="8B93B8">
                <a:alpha val="18000"/>
              </a:srgbClr>
            </a:outerShdw>
          </a:effectLst>
        </p:spPr>
      </p:sp>
      <p:sp>
        <p:nvSpPr>
          <p:cNvPr id="25" name="Text 23"/>
          <p:cNvSpPr txBox="1"/>
          <p:nvPr/>
        </p:nvSpPr>
        <p:spPr>
          <a:xfrm>
            <a:off x="6675120" y="1783080"/>
            <a:ext cx="4663440" cy="320040"/>
          </a:xfrm>
          <a:prstGeom prst="rect">
            <a:avLst/>
          </a:prstGeom>
          <a:noFill/>
          <a:ln/>
        </p:spPr>
        <p:txBody>
          <a:bodyPr wrap="square" lIns="0" tIns="0" rIns="0" bIns="0"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Inventory Owner asks the bot to change data</a:t>
            </a:r>
            <a:endParaRPr lang="en-US" sz="1100" dirty="0"/>
          </a:p>
        </p:txBody>
      </p:sp>
      <p:sp>
        <p:nvSpPr>
          <p:cNvPr id="26" name="Shape 24"/>
          <p:cNvSpPr/>
          <p:nvPr/>
        </p:nvSpPr>
        <p:spPr>
          <a:xfrm>
            <a:off x="6675120" y="2240280"/>
            <a:ext cx="4617720" cy="365760"/>
          </a:xfrm>
          <a:prstGeom prst="roundRect">
            <a:avLst>
              <a:gd name="adj" fmla="val 50000"/>
            </a:avLst>
          </a:prstGeom>
          <a:solidFill>
            <a:srgbClr val="3448A8"/>
          </a:solidFill>
          <a:ln/>
        </p:spPr>
      </p:sp>
      <p:sp>
        <p:nvSpPr>
          <p:cNvPr id="27" name="Text 25"/>
          <p:cNvSpPr txBox="1"/>
          <p:nvPr/>
        </p:nvSpPr>
        <p:spPr>
          <a:xfrm>
            <a:off x="6675120" y="2240280"/>
            <a:ext cx="4617720" cy="36576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Set min stock of BO-MC-0081 at 132-1 to 20</a:t>
            </a:r>
            <a:endParaRPr lang="en-US" sz="950" dirty="0"/>
          </a:p>
        </p:txBody>
      </p:sp>
      <p:sp>
        <p:nvSpPr>
          <p:cNvPr id="28" name="Shape 26"/>
          <p:cNvSpPr/>
          <p:nvPr/>
        </p:nvSpPr>
        <p:spPr>
          <a:xfrm>
            <a:off x="6675120" y="2788920"/>
            <a:ext cx="4617720" cy="1417320"/>
          </a:xfrm>
          <a:prstGeom prst="roundRect">
            <a:avLst>
              <a:gd name="adj" fmla="val 5161"/>
            </a:avLst>
          </a:prstGeom>
          <a:solidFill>
            <a:srgbClr val="FFFFFF"/>
          </a:solidFill>
          <a:ln/>
          <a:effectLst>
            <a:outerShdw sx="100000" sy="100000" kx="0" ky="0" algn="bl" rotWithShape="0" blurRad="76200" dist="25400" dir="5400000">
              <a:srgbClr val="8B93B8">
                <a:alpha val="18000"/>
              </a:srgbClr>
            </a:outerShdw>
          </a:effectLst>
        </p:spPr>
      </p:sp>
      <p:sp>
        <p:nvSpPr>
          <p:cNvPr id="29" name="Text 27"/>
          <p:cNvSpPr txBox="1"/>
          <p:nvPr/>
        </p:nvSpPr>
        <p:spPr>
          <a:xfrm>
            <a:off x="6858000" y="2907792"/>
            <a:ext cx="4251960" cy="411480"/>
          </a:xfrm>
          <a:prstGeom prst="rect">
            <a:avLst/>
          </a:prstGeom>
          <a:noFill/>
          <a:ln/>
        </p:spPr>
        <p:txBody>
          <a:bodyPr wrap="square" lIns="0" tIns="0" rIns="0" bIns="0" rtlCol="0" anchor="ctr"/>
          <a:lstStyle/>
          <a:p>
            <a:pPr indent="0" marL="0">
              <a:lnSpc>
                <a:spcPct val="115000"/>
              </a:lnSpc>
              <a:buNone/>
            </a:pPr>
            <a:r>
              <a:rPr lang="en-US" sz="950" dirty="0">
                <a:solidFill>
                  <a:srgbClr val="24273A"/>
                </a:solidFill>
                <a:latin typeface="Calibri" pitchFamily="34" charset="0"/>
                <a:ea typeface="Calibri" pitchFamily="34" charset="-122"/>
                <a:cs typeface="Calibri" pitchFamily="34" charset="-120"/>
              </a:rPr>
              <a:t>Here is the change I'm about to make. Please confirm before I save it.</a:t>
            </a:r>
            <a:endParaRPr lang="en-US" sz="950" dirty="0"/>
          </a:p>
        </p:txBody>
      </p:sp>
      <p:sp>
        <p:nvSpPr>
          <p:cNvPr id="30" name="Shape 28"/>
          <p:cNvSpPr/>
          <p:nvPr/>
        </p:nvSpPr>
        <p:spPr>
          <a:xfrm>
            <a:off x="6858000" y="3364992"/>
            <a:ext cx="4251960" cy="566928"/>
          </a:xfrm>
          <a:prstGeom prst="roundRect">
            <a:avLst>
              <a:gd name="adj" fmla="val 11290"/>
            </a:avLst>
          </a:prstGeom>
          <a:solidFill>
            <a:srgbClr val="EEF3FC"/>
          </a:solidFill>
          <a:ln/>
        </p:spPr>
      </p:sp>
      <p:sp>
        <p:nvSpPr>
          <p:cNvPr id="31" name="Text 29"/>
          <p:cNvSpPr txBox="1"/>
          <p:nvPr/>
        </p:nvSpPr>
        <p:spPr>
          <a:xfrm>
            <a:off x="7059168" y="3529584"/>
            <a:ext cx="3849624" cy="237744"/>
          </a:xfrm>
          <a:prstGeom prst="rect">
            <a:avLst/>
          </a:prstGeom>
          <a:noFill/>
          <a:ln/>
        </p:spPr>
        <p:txBody>
          <a:bodyPr wrap="square" lIns="0" tIns="0" rIns="0" bIns="0" rtlCol="0" anchor="t"/>
          <a:lstStyle/>
          <a:p>
            <a:pPr indent="0" marL="0">
              <a:lnSpc>
                <a:spcPct val="118000"/>
              </a:lnSpc>
              <a:buNone/>
            </a:pPr>
            <a:r>
              <a:rPr lang="en-US" sz="850" dirty="0">
                <a:solidFill>
                  <a:srgbClr val="141A47"/>
                </a:solidFill>
                <a:latin typeface="Consolas" pitchFamily="34" charset="0"/>
                <a:ea typeface="Consolas" pitchFamily="34" charset="-122"/>
                <a:cs typeface="Consolas" pitchFamily="34" charset="-120"/>
              </a:rPr>
              <a:t>UPDATE inv_current_stock SET</a:t>
            </a:r>
            <a:endParaRPr lang="en-US" sz="850" dirty="0"/>
          </a:p>
          <a:p>
            <a:pPr indent="0" marL="0">
              <a:lnSpc>
                <a:spcPct val="118000"/>
              </a:lnSpc>
              <a:buNone/>
            </a:pPr>
            <a:r>
              <a:rPr lang="en-US" sz="850" dirty="0">
                <a:solidFill>
                  <a:srgbClr val="141A47"/>
                </a:solidFill>
                <a:latin typeface="Consolas" pitchFamily="34" charset="0"/>
                <a:ea typeface="Consolas" pitchFamily="34" charset="-122"/>
                <a:cs typeface="Consolas" pitchFamily="34" charset="-120"/>
              </a:rPr>
              <a:t>min_stock_level = 20 WHERE ...</a:t>
            </a:r>
            <a:endParaRPr lang="en-US" sz="850" dirty="0"/>
          </a:p>
        </p:txBody>
      </p:sp>
      <p:sp>
        <p:nvSpPr>
          <p:cNvPr id="32" name="Shape 30"/>
          <p:cNvSpPr/>
          <p:nvPr/>
        </p:nvSpPr>
        <p:spPr>
          <a:xfrm>
            <a:off x="6858000" y="4041648"/>
            <a:ext cx="2377440" cy="365760"/>
          </a:xfrm>
          <a:prstGeom prst="roundRect">
            <a:avLst>
              <a:gd name="adj" fmla="val 50000"/>
            </a:avLst>
          </a:prstGeom>
          <a:solidFill>
            <a:srgbClr val="F2A93C"/>
          </a:solidFill>
          <a:ln/>
        </p:spPr>
      </p:sp>
      <p:sp>
        <p:nvSpPr>
          <p:cNvPr id="33" name="Text 31"/>
          <p:cNvSpPr txBox="1"/>
          <p:nvPr/>
        </p:nvSpPr>
        <p:spPr>
          <a:xfrm>
            <a:off x="6858000" y="4041648"/>
            <a:ext cx="2377440" cy="365760"/>
          </a:xfrm>
          <a:prstGeom prst="rect">
            <a:avLst/>
          </a:prstGeom>
          <a:noFill/>
          <a:ln/>
        </p:spPr>
        <p:txBody>
          <a:bodyPr wrap="square" lIns="0" tIns="0" rIns="0" bIns="0" rtlCol="0" anchor="ctr"/>
          <a:lstStyle/>
          <a:p>
            <a:pPr algn="ctr" indent="0" marL="0">
              <a:buNone/>
            </a:pPr>
            <a:r>
              <a:rPr lang="en-US" sz="950" b="1" dirty="0">
                <a:solidFill>
                  <a:srgbClr val="141A47"/>
                </a:solidFill>
                <a:latin typeface="Calibri" pitchFamily="34" charset="0"/>
                <a:ea typeface="Calibri" pitchFamily="34" charset="-122"/>
                <a:cs typeface="Calibri" pitchFamily="34" charset="-120"/>
              </a:rPr>
              <a:t>✓ Yes, apply this change</a:t>
            </a:r>
            <a:endParaRPr lang="en-US" sz="950" dirty="0"/>
          </a:p>
        </p:txBody>
      </p:sp>
      <p:sp>
        <p:nvSpPr>
          <p:cNvPr id="34" name="Shape 32"/>
          <p:cNvSpPr/>
          <p:nvPr/>
        </p:nvSpPr>
        <p:spPr>
          <a:xfrm>
            <a:off x="9372600" y="4041648"/>
            <a:ext cx="1371600" cy="365760"/>
          </a:xfrm>
          <a:prstGeom prst="roundRect">
            <a:avLst>
              <a:gd name="adj" fmla="val 50000"/>
            </a:avLst>
          </a:prstGeom>
          <a:solidFill>
            <a:srgbClr val="3A4380"/>
          </a:solidFill>
          <a:ln/>
        </p:spPr>
      </p:sp>
      <p:sp>
        <p:nvSpPr>
          <p:cNvPr id="35" name="Text 33"/>
          <p:cNvSpPr txBox="1"/>
          <p:nvPr/>
        </p:nvSpPr>
        <p:spPr>
          <a:xfrm>
            <a:off x="9372600" y="4041648"/>
            <a:ext cx="1371600" cy="36576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Cancel</a:t>
            </a:r>
            <a:endParaRPr lang="en-US" sz="950" dirty="0"/>
          </a:p>
        </p:txBody>
      </p:sp>
      <p:sp>
        <p:nvSpPr>
          <p:cNvPr id="36" name="Shape 34"/>
          <p:cNvSpPr/>
          <p:nvPr/>
        </p:nvSpPr>
        <p:spPr>
          <a:xfrm>
            <a:off x="6675120" y="4663440"/>
            <a:ext cx="4617720" cy="1371600"/>
          </a:xfrm>
          <a:prstGeom prst="roundRect">
            <a:avLst>
              <a:gd name="adj" fmla="val 5333"/>
            </a:avLst>
          </a:prstGeom>
          <a:solidFill>
            <a:srgbClr val="141A47"/>
          </a:solidFill>
          <a:ln/>
          <a:effectLst>
            <a:outerShdw sx="100000" sy="100000" kx="0" ky="0" algn="bl" rotWithShape="0" blurRad="76200" dist="25400" dir="5400000">
              <a:srgbClr val="8B93B8">
                <a:alpha val="18000"/>
              </a:srgbClr>
            </a:outerShdw>
          </a:effectLst>
        </p:spPr>
      </p:sp>
      <p:sp>
        <p:nvSpPr>
          <p:cNvPr id="37" name="Text 35"/>
          <p:cNvSpPr txBox="1"/>
          <p:nvPr/>
        </p:nvSpPr>
        <p:spPr>
          <a:xfrm>
            <a:off x="6858000" y="4800600"/>
            <a:ext cx="4251960" cy="457200"/>
          </a:xfrm>
          <a:prstGeom prst="rect">
            <a:avLst/>
          </a:prstGeom>
          <a:noFill/>
          <a:ln/>
        </p:spPr>
        <p:txBody>
          <a:bodyPr wrap="square" lIns="0" tIns="0" rIns="0" bIns="0" rtlCol="0" anchor="ctr"/>
          <a:lstStyle/>
          <a:p>
            <a:pPr indent="0" marL="0">
              <a:lnSpc>
                <a:spcPct val="120000"/>
              </a:lnSpc>
              <a:buNone/>
            </a:pPr>
            <a:r>
              <a:rPr lang="en-US" sz="950" i="1" dirty="0">
                <a:solidFill>
                  <a:srgbClr val="AEB9E0"/>
                </a:solidFill>
                <a:latin typeface="Calibri" pitchFamily="34" charset="0"/>
                <a:ea typeface="Calibri" pitchFamily="34" charset="-122"/>
                <a:cs typeface="Calibri" pitchFamily="34" charset="-120"/>
              </a:rPr>
              <a:t>check_sql() + denied_tables() run again, server-side, before the UPDATE executes.</a:t>
            </a:r>
            <a:endParaRPr lang="en-US" sz="950" dirty="0"/>
          </a:p>
        </p:txBody>
      </p:sp>
      <p:sp>
        <p:nvSpPr>
          <p:cNvPr id="38" name="Text 36"/>
          <p:cNvSpPr txBox="1"/>
          <p:nvPr/>
        </p:nvSpPr>
        <p:spPr>
          <a:xfrm>
            <a:off x="6858000" y="5349240"/>
            <a:ext cx="4251960" cy="365760"/>
          </a:xfrm>
          <a:prstGeom prst="rect">
            <a:avLst/>
          </a:prstGeom>
          <a:noFill/>
          <a:ln/>
        </p:spPr>
        <p:txBody>
          <a:bodyPr wrap="square" lIns="0" tIns="0" rIns="0" bIns="0" rtlCol="0" anchor="ctr"/>
          <a:lstStyle/>
          <a:p>
            <a:pPr indent="0" marL="0">
              <a:buNone/>
            </a:pPr>
            <a:r>
              <a:rPr lang="en-US" sz="1100" b="1" dirty="0">
                <a:solidFill>
                  <a:srgbClr val="6FE3B4"/>
                </a:solidFill>
                <a:latin typeface="Calibri" pitchFamily="34" charset="0"/>
                <a:ea typeface="Calibri" pitchFamily="34" charset="-122"/>
                <a:cs typeface="Calibri" pitchFamily="34" charset="-120"/>
              </a:rPr>
              <a:t>"Done. 1 row(s) updated."</a:t>
            </a:r>
            <a:endParaRPr lang="en-US" sz="1100" dirty="0"/>
          </a:p>
        </p:txBody>
      </p:sp>
      <p:sp>
        <p:nvSpPr>
          <p:cNvPr id="39" name="Text 37"/>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39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40" name="Text 38"/>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39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A93C"/>
                </a:solidFill>
                <a:latin typeface="Calibri" pitchFamily="34" charset="0"/>
                <a:ea typeface="Calibri" pitchFamily="34" charset="-122"/>
                <a:cs typeface="Calibri" pitchFamily="34" charset="-120"/>
              </a:rPr>
              <a:t>SEEING IT WORK</a:t>
            </a:r>
            <a:endParaRPr lang="en-US" sz="1200" dirty="0"/>
          </a:p>
        </p:txBody>
      </p:sp>
      <p:sp>
        <p:nvSpPr>
          <p:cNvPr id="3" name="Text 1"/>
          <p:cNvSpPr txBox="1"/>
          <p:nvPr/>
        </p:nvSpPr>
        <p:spPr>
          <a:xfrm>
            <a:off x="640080" y="749808"/>
            <a:ext cx="1051560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 guardrail firing — verified, not staged</a:t>
            </a:r>
            <a:endParaRPr lang="en-US" sz="3200" dirty="0"/>
          </a:p>
        </p:txBody>
      </p:sp>
      <p:sp>
        <p:nvSpPr>
          <p:cNvPr id="4" name="Text 2"/>
          <p:cNvSpPr txBox="1"/>
          <p:nvPr/>
        </p:nvSpPr>
        <p:spPr>
          <a:xfrm>
            <a:off x="640080" y="1600200"/>
            <a:ext cx="10881360" cy="457200"/>
          </a:xfrm>
          <a:prstGeom prst="rect">
            <a:avLst/>
          </a:prstGeom>
          <a:noFill/>
          <a:ln/>
        </p:spPr>
        <p:txBody>
          <a:bodyPr wrap="square" lIns="0" tIns="0" rIns="0" bIns="0" rtlCol="0" anchor="ctr"/>
          <a:lstStyle/>
          <a:p>
            <a:pPr indent="0" marL="0">
              <a:lnSpc>
                <a:spcPct val="120000"/>
              </a:lnSpc>
              <a:buNone/>
            </a:pPr>
            <a:r>
              <a:rPr lang="en-US" sz="1250" dirty="0">
                <a:solidFill>
                  <a:srgbClr val="24273A"/>
                </a:solidFill>
                <a:latin typeface="Calibri" pitchFamily="34" charset="0"/>
                <a:ea typeface="Calibri" pitchFamily="34" charset="-122"/>
                <a:cs typeface="Calibri" pitchFamily="34" charset="-120"/>
              </a:rPr>
              <a:t>Procurement Owner asks a question that reaches into inventory-issue history, a table only the Inventory Owner and Business Owner can see:</a:t>
            </a:r>
            <a:endParaRPr lang="en-US" sz="1250" dirty="0"/>
          </a:p>
        </p:txBody>
      </p:sp>
      <p:sp>
        <p:nvSpPr>
          <p:cNvPr id="5" name="Shape 3"/>
          <p:cNvSpPr/>
          <p:nvPr/>
        </p:nvSpPr>
        <p:spPr>
          <a:xfrm>
            <a:off x="640080" y="2148840"/>
            <a:ext cx="10927080" cy="502920"/>
          </a:xfrm>
          <a:prstGeom prst="roundRect">
            <a:avLst>
              <a:gd name="adj" fmla="val 50000"/>
            </a:avLst>
          </a:prstGeom>
          <a:solidFill>
            <a:srgbClr val="1E2761"/>
          </a:solidFill>
          <a:ln/>
        </p:spPr>
      </p:sp>
      <p:sp>
        <p:nvSpPr>
          <p:cNvPr id="6" name="Text 4"/>
          <p:cNvSpPr txBox="1"/>
          <p:nvPr/>
        </p:nvSpPr>
        <p:spPr>
          <a:xfrm>
            <a:off x="640080" y="2148840"/>
            <a:ext cx="10927080" cy="50292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“Which teams were issued the most stock last month?”  —  asked as Procurement Owner</a:t>
            </a:r>
            <a:endParaRPr lang="en-US" sz="1250" dirty="0"/>
          </a:p>
        </p:txBody>
      </p:sp>
      <p:sp>
        <p:nvSpPr>
          <p:cNvPr id="7" name="Shape 5"/>
          <p:cNvSpPr/>
          <p:nvPr/>
        </p:nvSpPr>
        <p:spPr>
          <a:xfrm>
            <a:off x="640080" y="2880360"/>
            <a:ext cx="10927080" cy="749808"/>
          </a:xfrm>
          <a:prstGeom prst="roundRect">
            <a:avLst>
              <a:gd name="adj" fmla="val 9756"/>
            </a:avLst>
          </a:prstGeom>
          <a:solidFill>
            <a:srgbClr val="FFFFFF"/>
          </a:solidFill>
          <a:ln w="12700">
            <a:solidFill>
              <a:srgbClr val="D7DFF2"/>
            </a:solidFill>
            <a:prstDash val="solid"/>
          </a:ln>
          <a:effectLst>
            <a:outerShdw sx="100000" sy="100000" kx="0" ky="0" algn="bl" rotWithShape="0" blurRad="76200" dist="25400" dir="5400000">
              <a:srgbClr val="8B93B8">
                <a:alpha val="18000"/>
              </a:srgbClr>
            </a:outerShdw>
          </a:effectLst>
        </p:spPr>
      </p:sp>
      <p:sp>
        <p:nvSpPr>
          <p:cNvPr id="8" name="Text 6"/>
          <p:cNvSpPr txBox="1"/>
          <p:nvPr/>
        </p:nvSpPr>
        <p:spPr>
          <a:xfrm>
            <a:off x="914400" y="2880360"/>
            <a:ext cx="2103120" cy="749808"/>
          </a:xfrm>
          <a:prstGeom prst="rect">
            <a:avLst/>
          </a:prstGeom>
          <a:noFill/>
          <a:ln/>
        </p:spPr>
        <p:txBody>
          <a:bodyPr wrap="square" lIns="0" tIns="0" rIns="0" bIns="0" rtlCol="0" anchor="ctr"/>
          <a:lstStyle/>
          <a:p>
            <a:pPr indent="0" marL="0">
              <a:buNone/>
            </a:pPr>
            <a:r>
              <a:rPr lang="en-US" sz="1150" b="1" dirty="0">
                <a:solidFill>
                  <a:srgbClr val="1E2761"/>
                </a:solidFill>
                <a:latin typeface="Consolas" pitchFamily="34" charset="0"/>
                <a:ea typeface="Consolas" pitchFamily="34" charset="-122"/>
                <a:cs typeface="Consolas" pitchFamily="34" charset="-120"/>
              </a:rPr>
              <a:t>write_sql</a:t>
            </a:r>
            <a:endParaRPr lang="en-US" sz="1150" dirty="0"/>
          </a:p>
        </p:txBody>
      </p:sp>
      <p:sp>
        <p:nvSpPr>
          <p:cNvPr id="9" name="Text 7"/>
          <p:cNvSpPr txBox="1"/>
          <p:nvPr/>
        </p:nvSpPr>
        <p:spPr>
          <a:xfrm>
            <a:off x="3108960" y="2880360"/>
            <a:ext cx="8275320" cy="749808"/>
          </a:xfrm>
          <a:prstGeom prst="rect">
            <a:avLst/>
          </a:prstGeom>
          <a:noFill/>
          <a:ln/>
        </p:spPr>
        <p:txBody>
          <a:bodyPr wrap="square" lIns="0" tIns="0" rIns="0" bIns="0" rtlCol="0" anchor="ctr"/>
          <a:lstStyle/>
          <a:p>
            <a:pPr indent="0" marL="0">
              <a:lnSpc>
                <a:spcPct val="115000"/>
              </a:lnSpc>
              <a:buNone/>
            </a:pPr>
            <a:r>
              <a:rPr lang="en-US" sz="1100" dirty="0">
                <a:solidFill>
                  <a:srgbClr val="24273A"/>
                </a:solidFill>
                <a:latin typeface="Calibri" pitchFamily="34" charset="0"/>
                <a:ea typeface="Calibri" pitchFamily="34" charset="-122"/>
                <a:cs typeface="Calibri" pitchFamily="34" charset="-120"/>
              </a:rPr>
              <a:t>generates a SELECT that joins inv_transactions and inv_issued_to_targets</a:t>
            </a:r>
            <a:endParaRPr lang="en-US" sz="1100" dirty="0"/>
          </a:p>
        </p:txBody>
      </p:sp>
      <p:sp>
        <p:nvSpPr>
          <p:cNvPr id="10" name="Shape 8"/>
          <p:cNvSpPr/>
          <p:nvPr/>
        </p:nvSpPr>
        <p:spPr>
          <a:xfrm>
            <a:off x="640080" y="3776472"/>
            <a:ext cx="10927080" cy="749808"/>
          </a:xfrm>
          <a:prstGeom prst="roundRect">
            <a:avLst>
              <a:gd name="adj" fmla="val 9756"/>
            </a:avLst>
          </a:prstGeom>
          <a:solidFill>
            <a:srgbClr val="FFFFFF"/>
          </a:solidFill>
          <a:ln w="12700">
            <a:solidFill>
              <a:srgbClr val="D7DFF2"/>
            </a:solidFill>
            <a:prstDash val="solid"/>
          </a:ln>
          <a:effectLst>
            <a:outerShdw sx="100000" sy="100000" kx="0" ky="0" algn="bl" rotWithShape="0" blurRad="76200" dist="25400" dir="5400000">
              <a:srgbClr val="8B93B8">
                <a:alpha val="18000"/>
              </a:srgbClr>
            </a:outerShdw>
          </a:effectLst>
        </p:spPr>
      </p:sp>
      <p:sp>
        <p:nvSpPr>
          <p:cNvPr id="11" name="Text 9"/>
          <p:cNvSpPr txBox="1"/>
          <p:nvPr/>
        </p:nvSpPr>
        <p:spPr>
          <a:xfrm>
            <a:off x="914400" y="3776472"/>
            <a:ext cx="2103120" cy="749808"/>
          </a:xfrm>
          <a:prstGeom prst="rect">
            <a:avLst/>
          </a:prstGeom>
          <a:noFill/>
          <a:ln/>
        </p:spPr>
        <p:txBody>
          <a:bodyPr wrap="square" lIns="0" tIns="0" rIns="0" bIns="0" rtlCol="0" anchor="ctr"/>
          <a:lstStyle/>
          <a:p>
            <a:pPr indent="0" marL="0">
              <a:buNone/>
            </a:pPr>
            <a:r>
              <a:rPr lang="en-US" sz="1150" b="1" dirty="0">
                <a:solidFill>
                  <a:srgbClr val="1E2761"/>
                </a:solidFill>
                <a:latin typeface="Consolas" pitchFamily="34" charset="0"/>
                <a:ea typeface="Consolas" pitchFamily="34" charset="-122"/>
                <a:cs typeface="Consolas" pitchFamily="34" charset="-120"/>
              </a:rPr>
              <a:t>check_access</a:t>
            </a:r>
            <a:endParaRPr lang="en-US" sz="1150" dirty="0"/>
          </a:p>
        </p:txBody>
      </p:sp>
      <p:sp>
        <p:nvSpPr>
          <p:cNvPr id="12" name="Text 10"/>
          <p:cNvSpPr txBox="1"/>
          <p:nvPr/>
        </p:nvSpPr>
        <p:spPr>
          <a:xfrm>
            <a:off x="3108960" y="3776472"/>
            <a:ext cx="8275320" cy="749808"/>
          </a:xfrm>
          <a:prstGeom prst="rect">
            <a:avLst/>
          </a:prstGeom>
          <a:noFill/>
          <a:ln/>
        </p:spPr>
        <p:txBody>
          <a:bodyPr wrap="square" lIns="0" tIns="0" rIns="0" bIns="0" rtlCol="0" anchor="ctr"/>
          <a:lstStyle/>
          <a:p>
            <a:pPr indent="0" marL="0">
              <a:lnSpc>
                <a:spcPct val="115000"/>
              </a:lnSpc>
              <a:buNone/>
            </a:pPr>
            <a:r>
              <a:rPr lang="en-US" sz="1100" dirty="0">
                <a:solidFill>
                  <a:srgbClr val="24273A"/>
                </a:solidFill>
                <a:latin typeface="Calibri" pitchFamily="34" charset="0"/>
                <a:ea typeface="Calibri" pitchFamily="34" charset="-122"/>
                <a:cs typeface="Calibri" pitchFamily="34" charset="-120"/>
              </a:rPr>
              <a:t>calls denied_tables(sql, "Procurement Owner") from guards.py</a:t>
            </a:r>
            <a:endParaRPr lang="en-US" sz="1100" dirty="0"/>
          </a:p>
        </p:txBody>
      </p:sp>
      <p:sp>
        <p:nvSpPr>
          <p:cNvPr id="13" name="Shape 11"/>
          <p:cNvSpPr/>
          <p:nvPr/>
        </p:nvSpPr>
        <p:spPr>
          <a:xfrm>
            <a:off x="640080" y="4672584"/>
            <a:ext cx="10927080" cy="749808"/>
          </a:xfrm>
          <a:prstGeom prst="roundRect">
            <a:avLst>
              <a:gd name="adj" fmla="val 9756"/>
            </a:avLst>
          </a:prstGeom>
          <a:solidFill>
            <a:srgbClr val="FBF1E0"/>
          </a:solidFill>
          <a:ln w="12700">
            <a:solidFill>
              <a:srgbClr val="F2A93C"/>
            </a:solidFill>
            <a:prstDash val="solid"/>
          </a:ln>
          <a:effectLst>
            <a:outerShdw sx="100000" sy="100000" kx="0" ky="0" algn="bl" rotWithShape="0" blurRad="76200" dist="25400" dir="5400000">
              <a:srgbClr val="8B93B8">
                <a:alpha val="18000"/>
              </a:srgbClr>
            </a:outerShdw>
          </a:effectLst>
        </p:spPr>
      </p:sp>
      <p:sp>
        <p:nvSpPr>
          <p:cNvPr id="14" name="Text 12"/>
          <p:cNvSpPr txBox="1"/>
          <p:nvPr/>
        </p:nvSpPr>
        <p:spPr>
          <a:xfrm>
            <a:off x="914400" y="4672584"/>
            <a:ext cx="2103120" cy="749808"/>
          </a:xfrm>
          <a:prstGeom prst="rect">
            <a:avLst/>
          </a:prstGeom>
          <a:noFill/>
          <a:ln/>
        </p:spPr>
        <p:txBody>
          <a:bodyPr wrap="square" lIns="0" tIns="0" rIns="0" bIns="0" rtlCol="0" anchor="ctr"/>
          <a:lstStyle/>
          <a:p>
            <a:pPr indent="0" marL="0">
              <a:buNone/>
            </a:pPr>
            <a:r>
              <a:rPr lang="en-US" sz="1150" b="1" dirty="0">
                <a:solidFill>
                  <a:srgbClr val="8A5A00"/>
                </a:solidFill>
                <a:latin typeface="Consolas" pitchFamily="34" charset="0"/>
                <a:ea typeface="Consolas" pitchFamily="34" charset="-122"/>
                <a:cs typeface="Consolas" pitchFamily="34" charset="-120"/>
              </a:rPr>
              <a:t>verified result</a:t>
            </a:r>
            <a:endParaRPr lang="en-US" sz="1150" dirty="0"/>
          </a:p>
        </p:txBody>
      </p:sp>
      <p:sp>
        <p:nvSpPr>
          <p:cNvPr id="15" name="Text 13"/>
          <p:cNvSpPr txBox="1"/>
          <p:nvPr/>
        </p:nvSpPr>
        <p:spPr>
          <a:xfrm>
            <a:off x="3108960" y="4672584"/>
            <a:ext cx="8275320" cy="749808"/>
          </a:xfrm>
          <a:prstGeom prst="rect">
            <a:avLst/>
          </a:prstGeom>
          <a:noFill/>
          <a:ln/>
        </p:spPr>
        <p:txBody>
          <a:bodyPr wrap="square" lIns="0" tIns="0" rIns="0" bIns="0" rtlCol="0" anchor="ctr"/>
          <a:lstStyle/>
          <a:p>
            <a:pPr indent="0" marL="0">
              <a:lnSpc>
                <a:spcPct val="115000"/>
              </a:lnSpc>
              <a:buNone/>
            </a:pPr>
            <a:r>
              <a:rPr lang="en-US" sz="1100" dirty="0">
                <a:solidFill>
                  <a:srgbClr val="24273A"/>
                </a:solidFill>
                <a:latin typeface="Calibri" pitchFamily="34" charset="0"/>
                <a:ea typeface="Calibri" pitchFamily="34" charset="-122"/>
                <a:cs typeface="Calibri" pitchFamily="34" charset="-120"/>
              </a:rPr>
              <a:t>denied_tables(...) == ["inv_transactions"]  — this exact case is test_procurement_owner_cannot_see_issue_history in the test suite, and it passes</a:t>
            </a:r>
            <a:endParaRPr lang="en-US" sz="1100" dirty="0"/>
          </a:p>
        </p:txBody>
      </p:sp>
      <p:sp>
        <p:nvSpPr>
          <p:cNvPr id="16" name="Shape 14"/>
          <p:cNvSpPr/>
          <p:nvPr/>
        </p:nvSpPr>
        <p:spPr>
          <a:xfrm>
            <a:off x="640080" y="5568696"/>
            <a:ext cx="10927080" cy="749808"/>
          </a:xfrm>
          <a:prstGeom prst="roundRect">
            <a:avLst>
              <a:gd name="adj" fmla="val 9756"/>
            </a:avLst>
          </a:prstGeom>
          <a:solidFill>
            <a:srgbClr val="EEF3FC"/>
          </a:solidFill>
          <a:ln w="12700">
            <a:solidFill>
              <a:srgbClr val="D7DFF2"/>
            </a:solidFill>
            <a:prstDash val="solid"/>
          </a:ln>
          <a:effectLst>
            <a:outerShdw sx="100000" sy="100000" kx="0" ky="0" algn="bl" rotWithShape="0" blurRad="76200" dist="25400" dir="5400000">
              <a:srgbClr val="8B93B8">
                <a:alpha val="18000"/>
              </a:srgbClr>
            </a:outerShdw>
          </a:effectLst>
        </p:spPr>
      </p:sp>
      <p:sp>
        <p:nvSpPr>
          <p:cNvPr id="17" name="Text 15"/>
          <p:cNvSpPr txBox="1"/>
          <p:nvPr/>
        </p:nvSpPr>
        <p:spPr>
          <a:xfrm>
            <a:off x="914400" y="5568696"/>
            <a:ext cx="2103120" cy="749808"/>
          </a:xfrm>
          <a:prstGeom prst="rect">
            <a:avLst/>
          </a:prstGeom>
          <a:noFill/>
          <a:ln/>
        </p:spPr>
        <p:txBody>
          <a:bodyPr wrap="square" lIns="0" tIns="0" rIns="0" bIns="0" rtlCol="0" anchor="ctr"/>
          <a:lstStyle/>
          <a:p>
            <a:pPr indent="0" marL="0">
              <a:buNone/>
            </a:pPr>
            <a:r>
              <a:rPr lang="en-US" sz="1150" b="1" dirty="0">
                <a:solidFill>
                  <a:srgbClr val="1E2761"/>
                </a:solidFill>
                <a:latin typeface="Consolas" pitchFamily="34" charset="0"/>
                <a:ea typeface="Consolas" pitchFamily="34" charset="-122"/>
                <a:cs typeface="Consolas" pitchFamily="34" charset="-120"/>
              </a:rPr>
              <a:t>what the user sees</a:t>
            </a:r>
            <a:endParaRPr lang="en-US" sz="1150" dirty="0"/>
          </a:p>
        </p:txBody>
      </p:sp>
      <p:sp>
        <p:nvSpPr>
          <p:cNvPr id="18" name="Text 16"/>
          <p:cNvSpPr txBox="1"/>
          <p:nvPr/>
        </p:nvSpPr>
        <p:spPr>
          <a:xfrm>
            <a:off x="3108960" y="5568696"/>
            <a:ext cx="8275320" cy="749808"/>
          </a:xfrm>
          <a:prstGeom prst="rect">
            <a:avLst/>
          </a:prstGeom>
          <a:noFill/>
          <a:ln/>
        </p:spPr>
        <p:txBody>
          <a:bodyPr wrap="square" lIns="0" tIns="0" rIns="0" bIns="0" rtlCol="0" anchor="ctr"/>
          <a:lstStyle/>
          <a:p>
            <a:pPr indent="0" marL="0">
              <a:lnSpc>
                <a:spcPct val="115000"/>
              </a:lnSpc>
              <a:buNone/>
            </a:pPr>
            <a:r>
              <a:rPr lang="en-US" sz="1100" i="1" dirty="0">
                <a:solidFill>
                  <a:srgbClr val="24273A"/>
                </a:solidFill>
                <a:latin typeface="Calibri" pitchFamily="34" charset="0"/>
                <a:ea typeface="Calibri" pitchFamily="34" charset="-122"/>
                <a:cs typeface="Calibri" pitchFamily="34" charset="-120"/>
              </a:rPr>
              <a:t>"Sorry, as the Procurement Owner you don't have permission to see inv_transactions. Please ask the Business Owner."</a:t>
            </a:r>
            <a:endParaRPr lang="en-US" sz="1100" dirty="0"/>
          </a:p>
        </p:txBody>
      </p:sp>
      <p:sp>
        <p:nvSpPr>
          <p:cNvPr id="19" name="Text 17"/>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39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20" name="Text 18"/>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39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A93C"/>
                </a:solidFill>
                <a:latin typeface="Calibri" pitchFamily="34" charset="0"/>
                <a:ea typeface="Calibri" pitchFamily="34" charset="-122"/>
                <a:cs typeface="Calibri" pitchFamily="34" charset="-120"/>
              </a:rPr>
              <a:t>SCOPE CALLS</a:t>
            </a:r>
            <a:endParaRPr lang="en-US" sz="1200" dirty="0"/>
          </a:p>
        </p:txBody>
      </p:sp>
      <p:sp>
        <p:nvSpPr>
          <p:cNvPr id="3" name="Text 1"/>
          <p:cNvSpPr txBox="1"/>
          <p:nvPr/>
        </p:nvSpPr>
        <p:spPr>
          <a:xfrm>
            <a:off x="640080" y="749808"/>
            <a:ext cx="1051560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Kept deliberately simple, on purpose</a:t>
            </a:r>
            <a:endParaRPr lang="en-US" sz="3200" dirty="0"/>
          </a:p>
        </p:txBody>
      </p:sp>
      <p:sp>
        <p:nvSpPr>
          <p:cNvPr id="4" name="Shape 2"/>
          <p:cNvSpPr/>
          <p:nvPr/>
        </p:nvSpPr>
        <p:spPr>
          <a:xfrm>
            <a:off x="640080" y="1783080"/>
            <a:ext cx="384048" cy="384048"/>
          </a:xfrm>
          <a:prstGeom prst="ellipse">
            <a:avLst/>
          </a:prstGeom>
          <a:solidFill>
            <a:srgbClr val="1E2761"/>
          </a:solidFill>
          <a:ln/>
        </p:spPr>
      </p:sp>
      <p:sp>
        <p:nvSpPr>
          <p:cNvPr id="5" name="Text 3"/>
          <p:cNvSpPr txBox="1"/>
          <p:nvPr/>
        </p:nvSpPr>
        <p:spPr>
          <a:xfrm>
            <a:off x="640080" y="1783080"/>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1</a:t>
            </a:r>
            <a:endParaRPr lang="en-US" sz="1386" dirty="0"/>
          </a:p>
        </p:txBody>
      </p:sp>
      <p:sp>
        <p:nvSpPr>
          <p:cNvPr id="6" name="Text 4"/>
          <p:cNvSpPr txBox="1"/>
          <p:nvPr/>
        </p:nvSpPr>
        <p:spPr>
          <a:xfrm>
            <a:off x="1207008" y="1746504"/>
            <a:ext cx="1004011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No login</a:t>
            </a:r>
            <a:endParaRPr lang="en-US" sz="1400" dirty="0"/>
          </a:p>
        </p:txBody>
      </p:sp>
      <p:sp>
        <p:nvSpPr>
          <p:cNvPr id="7" name="Text 5"/>
          <p:cNvSpPr txBox="1"/>
          <p:nvPr/>
        </p:nvSpPr>
        <p:spPr>
          <a:xfrm>
            <a:off x="1207008" y="2039112"/>
            <a:ext cx="1004011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Role comes from a dropdown, not an identity. Permissions are still enforced server-side on every query — the shortcut is authentication, not authorization.</a:t>
            </a:r>
            <a:endParaRPr lang="en-US" sz="1150" dirty="0"/>
          </a:p>
        </p:txBody>
      </p:sp>
      <p:sp>
        <p:nvSpPr>
          <p:cNvPr id="8" name="Shape 6"/>
          <p:cNvSpPr/>
          <p:nvPr/>
        </p:nvSpPr>
        <p:spPr>
          <a:xfrm>
            <a:off x="640080" y="2880360"/>
            <a:ext cx="384048" cy="384048"/>
          </a:xfrm>
          <a:prstGeom prst="ellipse">
            <a:avLst/>
          </a:prstGeom>
          <a:solidFill>
            <a:srgbClr val="1E2761"/>
          </a:solidFill>
          <a:ln/>
        </p:spPr>
      </p:sp>
      <p:sp>
        <p:nvSpPr>
          <p:cNvPr id="9" name="Text 7"/>
          <p:cNvSpPr txBox="1"/>
          <p:nvPr/>
        </p:nvSpPr>
        <p:spPr>
          <a:xfrm>
            <a:off x="640080" y="2880360"/>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2</a:t>
            </a:r>
            <a:endParaRPr lang="en-US" sz="1386" dirty="0"/>
          </a:p>
        </p:txBody>
      </p:sp>
      <p:sp>
        <p:nvSpPr>
          <p:cNvPr id="10" name="Text 8"/>
          <p:cNvSpPr txBox="1"/>
          <p:nvPr/>
        </p:nvSpPr>
        <p:spPr>
          <a:xfrm>
            <a:off x="1207008" y="2843784"/>
            <a:ext cx="1004011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Demo data is fabricated</a:t>
            </a:r>
            <a:endParaRPr lang="en-US" sz="1400" dirty="0"/>
          </a:p>
        </p:txBody>
      </p:sp>
      <p:sp>
        <p:nvSpPr>
          <p:cNvPr id="11" name="Text 9"/>
          <p:cNvSpPr txBox="1"/>
          <p:nvPr/>
        </p:nvSpPr>
        <p:spPr>
          <a:xfrm>
            <a:off x="1207008" y="3136392"/>
            <a:ext cx="1004011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April–August 2026, generated to exercise every question type — not pulled from a live plant. Swapping in real data changes nothing else.</a:t>
            </a:r>
            <a:endParaRPr lang="en-US" sz="1150" dirty="0"/>
          </a:p>
        </p:txBody>
      </p:sp>
      <p:sp>
        <p:nvSpPr>
          <p:cNvPr id="12" name="Shape 10"/>
          <p:cNvSpPr/>
          <p:nvPr/>
        </p:nvSpPr>
        <p:spPr>
          <a:xfrm>
            <a:off x="640080" y="3977640"/>
            <a:ext cx="384048" cy="384048"/>
          </a:xfrm>
          <a:prstGeom prst="ellipse">
            <a:avLst/>
          </a:prstGeom>
          <a:solidFill>
            <a:srgbClr val="1E2761"/>
          </a:solidFill>
          <a:ln/>
        </p:spPr>
      </p:sp>
      <p:sp>
        <p:nvSpPr>
          <p:cNvPr id="13" name="Text 11"/>
          <p:cNvSpPr txBox="1"/>
          <p:nvPr/>
        </p:nvSpPr>
        <p:spPr>
          <a:xfrm>
            <a:off x="640080" y="3977640"/>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3</a:t>
            </a:r>
            <a:endParaRPr lang="en-US" sz="1386" dirty="0"/>
          </a:p>
        </p:txBody>
      </p:sp>
      <p:sp>
        <p:nvSpPr>
          <p:cNvPr id="14" name="Text 12"/>
          <p:cNvSpPr txBox="1"/>
          <p:nvPr/>
        </p:nvSpPr>
        <p:spPr>
          <a:xfrm>
            <a:off x="1207008" y="3941064"/>
            <a:ext cx="1004011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Two LLM calls, not an open-ended agent</a:t>
            </a:r>
            <a:endParaRPr lang="en-US" sz="1400" dirty="0"/>
          </a:p>
        </p:txBody>
      </p:sp>
      <p:sp>
        <p:nvSpPr>
          <p:cNvPr id="15" name="Text 13"/>
          <p:cNvSpPr txBox="1"/>
          <p:nvPr/>
        </p:nvSpPr>
        <p:spPr>
          <a:xfrm>
            <a:off x="1207008" y="4233672"/>
            <a:ext cx="1004011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Write SQL, then explain the result. Text-to-SQL over a fixed schema is a bounded problem — it doesn't need multi-step planning or tool loops.</a:t>
            </a:r>
            <a:endParaRPr lang="en-US" sz="1150" dirty="0"/>
          </a:p>
        </p:txBody>
      </p:sp>
      <p:sp>
        <p:nvSpPr>
          <p:cNvPr id="16" name="Shape 14"/>
          <p:cNvSpPr/>
          <p:nvPr/>
        </p:nvSpPr>
        <p:spPr>
          <a:xfrm>
            <a:off x="640080" y="5074920"/>
            <a:ext cx="384048" cy="384048"/>
          </a:xfrm>
          <a:prstGeom prst="ellipse">
            <a:avLst/>
          </a:prstGeom>
          <a:solidFill>
            <a:srgbClr val="1E2761"/>
          </a:solidFill>
          <a:ln/>
        </p:spPr>
      </p:sp>
      <p:sp>
        <p:nvSpPr>
          <p:cNvPr id="17" name="Text 15"/>
          <p:cNvSpPr txBox="1"/>
          <p:nvPr/>
        </p:nvSpPr>
        <p:spPr>
          <a:xfrm>
            <a:off x="640080" y="5074920"/>
            <a:ext cx="384048" cy="384048"/>
          </a:xfrm>
          <a:prstGeom prst="rect">
            <a:avLst/>
          </a:prstGeom>
          <a:noFill/>
          <a:ln/>
        </p:spPr>
        <p:txBody>
          <a:bodyPr wrap="square" lIns="0" tIns="0" rIns="0" bIns="0" rtlCol="0" anchor="ctr"/>
          <a:lstStyle/>
          <a:p>
            <a:pPr algn="ctr" indent="0" marL="0">
              <a:buNone/>
            </a:pPr>
            <a:r>
              <a:rPr lang="en-US" sz="1386" b="1" dirty="0">
                <a:solidFill>
                  <a:srgbClr val="FFFFFF"/>
                </a:solidFill>
                <a:latin typeface="Cambria" pitchFamily="34" charset="0"/>
                <a:ea typeface="Cambria" pitchFamily="34" charset="-122"/>
                <a:cs typeface="Cambria" pitchFamily="34" charset="-120"/>
              </a:rPr>
              <a:t>4</a:t>
            </a:r>
            <a:endParaRPr lang="en-US" sz="1386" dirty="0"/>
          </a:p>
        </p:txBody>
      </p:sp>
      <p:sp>
        <p:nvSpPr>
          <p:cNvPr id="18" name="Text 16"/>
          <p:cNvSpPr txBox="1"/>
          <p:nvPr/>
        </p:nvSpPr>
        <p:spPr>
          <a:xfrm>
            <a:off x="1207008" y="5038344"/>
            <a:ext cx="10040112" cy="292608"/>
          </a:xfrm>
          <a:prstGeom prst="rect">
            <a:avLst/>
          </a:prstGeom>
          <a:noFill/>
          <a:ln/>
        </p:spPr>
        <p:txBody>
          <a:bodyPr wrap="square" lIns="0" tIns="0" rIns="0" bIns="0" rtlCol="0" anchor="ctr"/>
          <a:lstStyle/>
          <a:p>
            <a:pPr indent="0" marL="0">
              <a:buNone/>
            </a:pPr>
            <a:r>
              <a:rPr lang="en-US" sz="1400" b="1" dirty="0">
                <a:solidFill>
                  <a:srgbClr val="24273A"/>
                </a:solidFill>
                <a:latin typeface="Calibri" pitchFamily="34" charset="0"/>
                <a:ea typeface="Calibri" pitchFamily="34" charset="-122"/>
                <a:cs typeface="Calibri" pitchFamily="34" charset="-120"/>
              </a:rPr>
              <a:t>A small, cheap model</a:t>
            </a:r>
            <a:endParaRPr lang="en-US" sz="1400" dirty="0"/>
          </a:p>
        </p:txBody>
      </p:sp>
      <p:sp>
        <p:nvSpPr>
          <p:cNvPr id="19" name="Text 17"/>
          <p:cNvSpPr txBox="1"/>
          <p:nvPr/>
        </p:nvSpPr>
        <p:spPr>
          <a:xfrm>
            <a:off x="1207008" y="5330952"/>
            <a:ext cx="10040112" cy="566928"/>
          </a:xfrm>
          <a:prstGeom prst="rect">
            <a:avLst/>
          </a:prstGeom>
          <a:noFill/>
          <a:ln/>
        </p:spPr>
        <p:txBody>
          <a:bodyPr wrap="square" lIns="0" tIns="0" rIns="0" bIns="0" rtlCol="0" anchor="ctr"/>
          <a:lstStyle/>
          <a:p>
            <a:pPr indent="0" marL="0">
              <a:lnSpc>
                <a:spcPct val="112000"/>
              </a:lnSpc>
              <a:buNone/>
            </a:pPr>
            <a:r>
              <a:rPr lang="en-US" sz="1150" dirty="0">
                <a:solidFill>
                  <a:srgbClr val="6B7390"/>
                </a:solidFill>
                <a:latin typeface="Calibri" pitchFamily="34" charset="0"/>
                <a:ea typeface="Calibri" pitchFamily="34" charset="-122"/>
                <a:cs typeface="Calibri" pitchFamily="34" charset="-120"/>
              </a:rPr>
              <a:t>gpt-4.1-mini at temperature 0. ~20 tables and single-statement SQL don't need a larger, slower, pricier model.</a:t>
            </a:r>
            <a:endParaRPr lang="en-US" sz="1150" dirty="0"/>
          </a:p>
        </p:txBody>
      </p:sp>
      <p:sp>
        <p:nvSpPr>
          <p:cNvPr id="20" name="Text 18"/>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39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21" name="Text 19"/>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39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A93C"/>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640080" y="749808"/>
            <a:ext cx="1051560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What's not here yet</a:t>
            </a:r>
            <a:endParaRPr lang="en-US" sz="3200" dirty="0"/>
          </a:p>
        </p:txBody>
      </p:sp>
      <p:sp>
        <p:nvSpPr>
          <p:cNvPr id="4" name="Shape 2"/>
          <p:cNvSpPr/>
          <p:nvPr/>
        </p:nvSpPr>
        <p:spPr>
          <a:xfrm>
            <a:off x="640080" y="1691640"/>
            <a:ext cx="10927080" cy="841248"/>
          </a:xfrm>
          <a:prstGeom prst="roundRect">
            <a:avLst>
              <a:gd name="adj" fmla="val 8696"/>
            </a:avLst>
          </a:prstGeom>
          <a:solidFill>
            <a:srgbClr val="EEF3FC"/>
          </a:solidFill>
          <a:ln/>
          <a:effectLst>
            <a:outerShdw sx="100000" sy="100000" kx="0" ky="0" algn="bl" rotWithShape="0" blurRad="76200" dist="25400" dir="5400000">
              <a:srgbClr val="8B93B8">
                <a:alpha val="18000"/>
              </a:srgbClr>
            </a:outerShdw>
          </a:effectLst>
        </p:spPr>
      </p:sp>
      <p:sp>
        <p:nvSpPr>
          <p:cNvPr id="5" name="Text 3"/>
          <p:cNvSpPr txBox="1"/>
          <p:nvPr/>
        </p:nvSpPr>
        <p:spPr>
          <a:xfrm>
            <a:off x="914400" y="1691640"/>
            <a:ext cx="2743200" cy="8412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Real authentication</a:t>
            </a:r>
            <a:endParaRPr lang="en-US" sz="1300" dirty="0"/>
          </a:p>
        </p:txBody>
      </p:sp>
      <p:sp>
        <p:nvSpPr>
          <p:cNvPr id="6" name="Text 4"/>
          <p:cNvSpPr txBox="1"/>
          <p:nvPr/>
        </p:nvSpPr>
        <p:spPr>
          <a:xfrm>
            <a:off x="3749040" y="1691640"/>
            <a:ext cx="7635240" cy="841248"/>
          </a:xfrm>
          <a:prstGeom prst="rect">
            <a:avLst/>
          </a:prstGeom>
          <a:noFill/>
          <a:ln/>
        </p:spPr>
        <p:txBody>
          <a:bodyPr wrap="square" lIns="0" tIns="0" rIns="0" bIns="0" rtlCol="0" anchor="ctr"/>
          <a:lstStyle/>
          <a:p>
            <a:pPr indent="0" marL="0">
              <a:lnSpc>
                <a:spcPct val="115000"/>
              </a:lnSpc>
              <a:buNone/>
            </a:pPr>
            <a:r>
              <a:rPr lang="en-US" sz="1080" dirty="0">
                <a:solidFill>
                  <a:srgbClr val="24273A"/>
                </a:solidFill>
                <a:latin typeface="Calibri" pitchFamily="34" charset="0"/>
                <a:ea typeface="Calibri" pitchFamily="34" charset="-122"/>
                <a:cs typeface="Calibri" pitchFamily="34" charset="-120"/>
              </a:rPr>
              <a:t>Today the role is picked, not verified. Add login and map identities to roles before this leaves a demo.</a:t>
            </a:r>
            <a:endParaRPr lang="en-US" sz="1080" dirty="0"/>
          </a:p>
        </p:txBody>
      </p:sp>
      <p:sp>
        <p:nvSpPr>
          <p:cNvPr id="7" name="Shape 5"/>
          <p:cNvSpPr/>
          <p:nvPr/>
        </p:nvSpPr>
        <p:spPr>
          <a:xfrm>
            <a:off x="640080" y="2660904"/>
            <a:ext cx="10927080" cy="841248"/>
          </a:xfrm>
          <a:prstGeom prst="roundRect">
            <a:avLst>
              <a:gd name="adj" fmla="val 8696"/>
            </a:avLst>
          </a:prstGeom>
          <a:solidFill>
            <a:srgbClr val="EEF3FC"/>
          </a:solidFill>
          <a:ln/>
          <a:effectLst>
            <a:outerShdw sx="100000" sy="100000" kx="0" ky="0" algn="bl" rotWithShape="0" blurRad="76200" dist="25400" dir="5400000">
              <a:srgbClr val="8B93B8">
                <a:alpha val="18000"/>
              </a:srgbClr>
            </a:outerShdw>
          </a:effectLst>
        </p:spPr>
      </p:sp>
      <p:sp>
        <p:nvSpPr>
          <p:cNvPr id="8" name="Text 6"/>
          <p:cNvSpPr txBox="1"/>
          <p:nvPr/>
        </p:nvSpPr>
        <p:spPr>
          <a:xfrm>
            <a:off x="914400" y="2660904"/>
            <a:ext cx="2743200" cy="8412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Deployed, not local</a:t>
            </a:r>
            <a:endParaRPr lang="en-US" sz="1300" dirty="0"/>
          </a:p>
        </p:txBody>
      </p:sp>
      <p:sp>
        <p:nvSpPr>
          <p:cNvPr id="9" name="Text 7"/>
          <p:cNvSpPr txBox="1"/>
          <p:nvPr/>
        </p:nvSpPr>
        <p:spPr>
          <a:xfrm>
            <a:off x="3749040" y="2660904"/>
            <a:ext cx="7635240" cy="841248"/>
          </a:xfrm>
          <a:prstGeom prst="rect">
            <a:avLst/>
          </a:prstGeom>
          <a:noFill/>
          <a:ln/>
        </p:spPr>
        <p:txBody>
          <a:bodyPr wrap="square" lIns="0" tIns="0" rIns="0" bIns="0" rtlCol="0" anchor="ctr"/>
          <a:lstStyle/>
          <a:p>
            <a:pPr indent="0" marL="0">
              <a:lnSpc>
                <a:spcPct val="115000"/>
              </a:lnSpc>
              <a:buNone/>
            </a:pPr>
            <a:r>
              <a:rPr lang="en-US" sz="1080" dirty="0">
                <a:solidFill>
                  <a:srgbClr val="24273A"/>
                </a:solidFill>
                <a:latin typeface="Calibri" pitchFamily="34" charset="0"/>
                <a:ea typeface="Calibri" pitchFamily="34" charset="-122"/>
                <a:cs typeface="Calibri" pitchFamily="34" charset="-120"/>
              </a:rPr>
              <a:t>Runs at localhost:3000 / :8000. Backend to Railway or Render, frontend to Vercel — both already in the tech-stack brief.</a:t>
            </a:r>
            <a:endParaRPr lang="en-US" sz="1080" dirty="0"/>
          </a:p>
        </p:txBody>
      </p:sp>
      <p:sp>
        <p:nvSpPr>
          <p:cNvPr id="10" name="Shape 8"/>
          <p:cNvSpPr/>
          <p:nvPr/>
        </p:nvSpPr>
        <p:spPr>
          <a:xfrm>
            <a:off x="640080" y="3630168"/>
            <a:ext cx="10927080" cy="841248"/>
          </a:xfrm>
          <a:prstGeom prst="roundRect">
            <a:avLst>
              <a:gd name="adj" fmla="val 8696"/>
            </a:avLst>
          </a:prstGeom>
          <a:solidFill>
            <a:srgbClr val="EEF3FC"/>
          </a:solidFill>
          <a:ln/>
          <a:effectLst>
            <a:outerShdw sx="100000" sy="100000" kx="0" ky="0" algn="bl" rotWithShape="0" blurRad="76200" dist="25400" dir="5400000">
              <a:srgbClr val="8B93B8">
                <a:alpha val="18000"/>
              </a:srgbClr>
            </a:outerShdw>
          </a:effectLst>
        </p:spPr>
      </p:sp>
      <p:sp>
        <p:nvSpPr>
          <p:cNvPr id="11" name="Text 9"/>
          <p:cNvSpPr txBox="1"/>
          <p:nvPr/>
        </p:nvSpPr>
        <p:spPr>
          <a:xfrm>
            <a:off x="914400" y="3630168"/>
            <a:ext cx="2743200" cy="8412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Tracing turned on</a:t>
            </a:r>
            <a:endParaRPr lang="en-US" sz="1300" dirty="0"/>
          </a:p>
        </p:txBody>
      </p:sp>
      <p:sp>
        <p:nvSpPr>
          <p:cNvPr id="12" name="Text 10"/>
          <p:cNvSpPr txBox="1"/>
          <p:nvPr/>
        </p:nvSpPr>
        <p:spPr>
          <a:xfrm>
            <a:off x="3749040" y="3630168"/>
            <a:ext cx="7635240" cy="841248"/>
          </a:xfrm>
          <a:prstGeom prst="rect">
            <a:avLst/>
          </a:prstGeom>
          <a:noFill/>
          <a:ln/>
        </p:spPr>
        <p:txBody>
          <a:bodyPr wrap="square" lIns="0" tIns="0" rIns="0" bIns="0" rtlCol="0" anchor="ctr"/>
          <a:lstStyle/>
          <a:p>
            <a:pPr indent="0" marL="0">
              <a:lnSpc>
                <a:spcPct val="115000"/>
              </a:lnSpc>
              <a:buNone/>
            </a:pPr>
            <a:r>
              <a:rPr lang="en-US" sz="1080" dirty="0">
                <a:solidFill>
                  <a:srgbClr val="24273A"/>
                </a:solidFill>
                <a:latin typeface="Calibri" pitchFamily="34" charset="0"/>
                <a:ea typeface="Calibri" pitchFamily="34" charset="-122"/>
                <a:cs typeface="Calibri" pitchFamily="34" charset="-120"/>
              </a:rPr>
              <a:t>LangSmith is wired into requirements.txt but not switched on. Flip LANGSMITH_TRACING=true in backend/.env to see every prompt and SQL attempt.</a:t>
            </a:r>
            <a:endParaRPr lang="en-US" sz="1080" dirty="0"/>
          </a:p>
        </p:txBody>
      </p:sp>
      <p:sp>
        <p:nvSpPr>
          <p:cNvPr id="13" name="Shape 11"/>
          <p:cNvSpPr/>
          <p:nvPr/>
        </p:nvSpPr>
        <p:spPr>
          <a:xfrm>
            <a:off x="640080" y="4599432"/>
            <a:ext cx="10927080" cy="841248"/>
          </a:xfrm>
          <a:prstGeom prst="roundRect">
            <a:avLst>
              <a:gd name="adj" fmla="val 8696"/>
            </a:avLst>
          </a:prstGeom>
          <a:solidFill>
            <a:srgbClr val="EEF3FC"/>
          </a:solidFill>
          <a:ln/>
          <a:effectLst>
            <a:outerShdw sx="100000" sy="100000" kx="0" ky="0" algn="bl" rotWithShape="0" blurRad="76200" dist="25400" dir="5400000">
              <a:srgbClr val="8B93B8">
                <a:alpha val="18000"/>
              </a:srgbClr>
            </a:outerShdw>
          </a:effectLst>
        </p:spPr>
      </p:sp>
      <p:sp>
        <p:nvSpPr>
          <p:cNvPr id="14" name="Text 12"/>
          <p:cNvSpPr txBox="1"/>
          <p:nvPr/>
        </p:nvSpPr>
        <p:spPr>
          <a:xfrm>
            <a:off x="914400" y="4599432"/>
            <a:ext cx="2743200" cy="8412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More questions, more roles</a:t>
            </a:r>
            <a:endParaRPr lang="en-US" sz="1300" dirty="0"/>
          </a:p>
        </p:txBody>
      </p:sp>
      <p:sp>
        <p:nvSpPr>
          <p:cNvPr id="15" name="Text 13"/>
          <p:cNvSpPr txBox="1"/>
          <p:nvPr/>
        </p:nvSpPr>
        <p:spPr>
          <a:xfrm>
            <a:off x="3749040" y="4599432"/>
            <a:ext cx="7635240" cy="841248"/>
          </a:xfrm>
          <a:prstGeom prst="rect">
            <a:avLst/>
          </a:prstGeom>
          <a:noFill/>
          <a:ln/>
        </p:spPr>
        <p:txBody>
          <a:bodyPr wrap="square" lIns="0" tIns="0" rIns="0" bIns="0" rtlCol="0" anchor="ctr"/>
          <a:lstStyle/>
          <a:p>
            <a:pPr indent="0" marL="0">
              <a:lnSpc>
                <a:spcPct val="115000"/>
              </a:lnSpc>
              <a:buNone/>
            </a:pPr>
            <a:r>
              <a:rPr lang="en-US" sz="1080" dirty="0">
                <a:solidFill>
                  <a:srgbClr val="24273A"/>
                </a:solidFill>
                <a:latin typeface="Calibri" pitchFamily="34" charset="0"/>
                <a:ea typeface="Calibri" pitchFamily="34" charset="-122"/>
                <a:cs typeface="Calibri" pitchFamily="34" charset="-120"/>
              </a:rPr>
              <a:t>18 test cases cover the brief; a real rollout means watching what people actually ask and growing test_questions.py from there.</a:t>
            </a:r>
            <a:endParaRPr lang="en-US" sz="1080" dirty="0"/>
          </a:p>
        </p:txBody>
      </p:sp>
      <p:sp>
        <p:nvSpPr>
          <p:cNvPr id="16" name="Shape 14"/>
          <p:cNvSpPr/>
          <p:nvPr/>
        </p:nvSpPr>
        <p:spPr>
          <a:xfrm>
            <a:off x="640080" y="5568696"/>
            <a:ext cx="10927080" cy="841248"/>
          </a:xfrm>
          <a:prstGeom prst="roundRect">
            <a:avLst>
              <a:gd name="adj" fmla="val 8696"/>
            </a:avLst>
          </a:prstGeom>
          <a:solidFill>
            <a:srgbClr val="EEF3FC"/>
          </a:solidFill>
          <a:ln/>
          <a:effectLst>
            <a:outerShdw sx="100000" sy="100000" kx="0" ky="0" algn="bl" rotWithShape="0" blurRad="76200" dist="25400" dir="5400000">
              <a:srgbClr val="8B93B8">
                <a:alpha val="18000"/>
              </a:srgbClr>
            </a:outerShdw>
          </a:effectLst>
        </p:spPr>
      </p:sp>
      <p:sp>
        <p:nvSpPr>
          <p:cNvPr id="17" name="Text 15"/>
          <p:cNvSpPr txBox="1"/>
          <p:nvPr/>
        </p:nvSpPr>
        <p:spPr>
          <a:xfrm>
            <a:off x="914400" y="5568696"/>
            <a:ext cx="2743200" cy="8412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Richer writes</a:t>
            </a:r>
            <a:endParaRPr lang="en-US" sz="1300" dirty="0"/>
          </a:p>
        </p:txBody>
      </p:sp>
      <p:sp>
        <p:nvSpPr>
          <p:cNvPr id="18" name="Text 16"/>
          <p:cNvSpPr txBox="1"/>
          <p:nvPr/>
        </p:nvSpPr>
        <p:spPr>
          <a:xfrm>
            <a:off x="3749040" y="5568696"/>
            <a:ext cx="7635240" cy="841248"/>
          </a:xfrm>
          <a:prstGeom prst="rect">
            <a:avLst/>
          </a:prstGeom>
          <a:noFill/>
          <a:ln/>
        </p:spPr>
        <p:txBody>
          <a:bodyPr wrap="square" lIns="0" tIns="0" rIns="0" bIns="0" rtlCol="0" anchor="ctr"/>
          <a:lstStyle/>
          <a:p>
            <a:pPr indent="0" marL="0">
              <a:lnSpc>
                <a:spcPct val="115000"/>
              </a:lnSpc>
              <a:buNone/>
            </a:pPr>
            <a:r>
              <a:rPr lang="en-US" sz="1080" dirty="0">
                <a:solidFill>
                  <a:srgbClr val="24273A"/>
                </a:solidFill>
                <a:latin typeface="Calibri" pitchFamily="34" charset="0"/>
                <a:ea typeface="Calibri" pitchFamily="34" charset="-122"/>
                <a:cs typeface="Calibri" pitchFamily="34" charset="-120"/>
              </a:rPr>
              <a:t>Today: one INSERT/UPDATE per confirmed action. Multi-step writes (e.g. "create a PO with these 3 lines") are a natural next step.</a:t>
            </a:r>
            <a:endParaRPr lang="en-US" sz="1080" dirty="0"/>
          </a:p>
        </p:txBody>
      </p:sp>
      <p:sp>
        <p:nvSpPr>
          <p:cNvPr id="19" name="Text 17"/>
          <p:cNvSpPr txBox="1"/>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B7390"/>
                </a:solidFill>
                <a:latin typeface="Calibri" pitchFamily="34" charset="0"/>
                <a:ea typeface="Calibri" pitchFamily="34" charset="-122"/>
                <a:cs typeface="Calibri" pitchFamily="34" charset="-120"/>
              </a:rPr>
              <a:t>Inventory &amp; Procurement Assistant — Build Walkthrough</a:t>
            </a:r>
            <a:endParaRPr lang="en-US" sz="900" dirty="0"/>
          </a:p>
        </p:txBody>
      </p:sp>
      <p:sp>
        <p:nvSpPr>
          <p:cNvPr id="20" name="Text 18"/>
          <p:cNvSpPr txBox="1"/>
          <p:nvPr/>
        </p:nvSpPr>
        <p:spPr>
          <a:xfrm>
            <a:off x="11185855" y="6446520"/>
            <a:ext cx="548640" cy="274320"/>
          </a:xfrm>
          <a:prstGeom prst="rect">
            <a:avLst/>
          </a:prstGeom>
          <a:noFill/>
          <a:ln/>
        </p:spPr>
        <p:txBody>
          <a:bodyPr wrap="square" lIns="0" tIns="0" rIns="0" bIns="0" rtlCol="0" anchor="ctr"/>
          <a:lstStyle/>
          <a:p>
            <a:pPr algn="r" indent="0" marL="0">
              <a:buNone/>
            </a:pPr>
            <a:r>
              <a:rPr lang="en-US" sz="900" dirty="0">
                <a:solidFill>
                  <a:srgbClr val="6B739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286000" y="3840480"/>
            <a:ext cx="5486400" cy="5486400"/>
          </a:xfrm>
          <a:prstGeom prst="ellipse">
            <a:avLst/>
          </a:prstGeom>
          <a:solidFill>
            <a:srgbClr val="141A47"/>
          </a:solidFill>
          <a:ln/>
        </p:spPr>
      </p:sp>
      <p:sp>
        <p:nvSpPr>
          <p:cNvPr id="3" name="Text 1"/>
          <p:cNvSpPr txBox="1"/>
          <p:nvPr/>
        </p:nvSpPr>
        <p:spPr>
          <a:xfrm>
            <a:off x="640080" y="822960"/>
            <a:ext cx="7315200" cy="32004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RUN IT YOURSELF</a:t>
            </a:r>
            <a:endParaRPr lang="en-US" sz="1200" dirty="0"/>
          </a:p>
        </p:txBody>
      </p:sp>
      <p:sp>
        <p:nvSpPr>
          <p:cNvPr id="4" name="Text 2"/>
          <p:cNvSpPr txBox="1"/>
          <p:nvPr/>
        </p:nvSpPr>
        <p:spPr>
          <a:xfrm>
            <a:off x="640080" y="118872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Two terminals and a browser tab</a:t>
            </a:r>
            <a:endParaRPr lang="en-US" sz="3400" dirty="0"/>
          </a:p>
        </p:txBody>
      </p:sp>
      <p:sp>
        <p:nvSpPr>
          <p:cNvPr id="5" name="Text 3"/>
          <p:cNvSpPr txBox="1"/>
          <p:nvPr/>
        </p:nvSpPr>
        <p:spPr>
          <a:xfrm>
            <a:off x="640080" y="2148840"/>
            <a:ext cx="5120640" cy="292608"/>
          </a:xfrm>
          <a:prstGeom prst="rect">
            <a:avLst/>
          </a:prstGeom>
          <a:noFill/>
          <a:ln/>
        </p:spPr>
        <p:txBody>
          <a:bodyPr wrap="square" lIns="0" tIns="0" rIns="0" bIns="0" rtlCol="0" anchor="ctr"/>
          <a:lstStyle/>
          <a:p>
            <a:pPr indent="0" marL="0">
              <a:buNone/>
            </a:pPr>
            <a:r>
              <a:rPr lang="en-US" sz="1300" b="1" dirty="0">
                <a:solidFill>
                  <a:srgbClr val="F2A93C"/>
                </a:solidFill>
                <a:latin typeface="Calibri" pitchFamily="34" charset="0"/>
                <a:ea typeface="Calibri" pitchFamily="34" charset="-122"/>
                <a:cs typeface="Calibri" pitchFamily="34" charset="-120"/>
              </a:rPr>
              <a:t>1. Backend</a:t>
            </a:r>
            <a:endParaRPr lang="en-US" sz="1300" dirty="0"/>
          </a:p>
        </p:txBody>
      </p:sp>
      <p:sp>
        <p:nvSpPr>
          <p:cNvPr id="6" name="Shape 4"/>
          <p:cNvSpPr/>
          <p:nvPr/>
        </p:nvSpPr>
        <p:spPr>
          <a:xfrm>
            <a:off x="640080" y="2514600"/>
            <a:ext cx="5257800" cy="1417320"/>
          </a:xfrm>
          <a:prstGeom prst="roundRect">
            <a:avLst>
              <a:gd name="adj" fmla="val 4516"/>
            </a:avLst>
          </a:prstGeom>
          <a:solidFill>
            <a:srgbClr val="141A47"/>
          </a:solidFill>
          <a:ln/>
        </p:spPr>
      </p:sp>
      <p:sp>
        <p:nvSpPr>
          <p:cNvPr id="7" name="Text 5"/>
          <p:cNvSpPr txBox="1"/>
          <p:nvPr/>
        </p:nvSpPr>
        <p:spPr>
          <a:xfrm>
            <a:off x="841248" y="2679192"/>
            <a:ext cx="4855464" cy="1088136"/>
          </a:xfrm>
          <a:prstGeom prst="rect">
            <a:avLst/>
          </a:prstGeom>
          <a:noFill/>
          <a:ln/>
        </p:spPr>
        <p:txBody>
          <a:bodyPr wrap="square" lIns="0" tIns="0" rIns="0" bIns="0" rtlCol="0" anchor="t"/>
          <a:lstStyle/>
          <a:p>
            <a:pPr indent="0" marL="0">
              <a:lnSpc>
                <a:spcPct val="118000"/>
              </a:lnSpc>
              <a:buNone/>
            </a:pPr>
            <a:r>
              <a:rPr lang="en-US" sz="1050" dirty="0">
                <a:solidFill>
                  <a:srgbClr val="CADCFC"/>
                </a:solidFill>
                <a:latin typeface="Consolas" pitchFamily="34" charset="0"/>
                <a:ea typeface="Consolas" pitchFamily="34" charset="-122"/>
                <a:cs typeface="Consolas" pitchFamily="34" charset="-120"/>
              </a:rPr>
              <a:t>cd backend</a:t>
            </a:r>
            <a:endParaRPr lang="en-US" sz="1050" dirty="0"/>
          </a:p>
          <a:p>
            <a:pPr indent="0" marL="0">
              <a:lnSpc>
                <a:spcPct val="118000"/>
              </a:lnSpc>
              <a:buNone/>
            </a:pPr>
            <a:r>
              <a:rPr lang="en-US" sz="1050" dirty="0">
                <a:solidFill>
                  <a:srgbClr val="CADCFC"/>
                </a:solidFill>
                <a:latin typeface="Consolas" pitchFamily="34" charset="0"/>
                <a:ea typeface="Consolas" pitchFamily="34" charset="-122"/>
                <a:cs typeface="Consolas" pitchFamily="34" charset="-120"/>
              </a:rPr>
              <a:t>python3 -m venv .venv</a:t>
            </a:r>
            <a:endParaRPr lang="en-US" sz="1050" dirty="0"/>
          </a:p>
          <a:p>
            <a:pPr indent="0" marL="0">
              <a:lnSpc>
                <a:spcPct val="118000"/>
              </a:lnSpc>
              <a:buNone/>
            </a:pPr>
            <a:r>
              <a:rPr lang="en-US" sz="1050" dirty="0">
                <a:solidFill>
                  <a:srgbClr val="CADCFC"/>
                </a:solidFill>
                <a:latin typeface="Consolas" pitchFamily="34" charset="0"/>
                <a:ea typeface="Consolas" pitchFamily="34" charset="-122"/>
                <a:cs typeface="Consolas" pitchFamily="34" charset="-120"/>
              </a:rPr>
              <a:t>source .venv/bin/activate</a:t>
            </a:r>
            <a:endParaRPr lang="en-US" sz="1050" dirty="0"/>
          </a:p>
          <a:p>
            <a:pPr indent="0" marL="0">
              <a:lnSpc>
                <a:spcPct val="118000"/>
              </a:lnSpc>
              <a:buNone/>
            </a:pPr>
            <a:r>
              <a:rPr lang="en-US" sz="1050" dirty="0">
                <a:solidFill>
                  <a:srgbClr val="CADCFC"/>
                </a:solidFill>
                <a:latin typeface="Consolas" pitchFamily="34" charset="0"/>
                <a:ea typeface="Consolas" pitchFamily="34" charset="-122"/>
                <a:cs typeface="Consolas" pitchFamily="34" charset="-120"/>
              </a:rPr>
              <a:t>pip install -r requirements.txt</a:t>
            </a:r>
            <a:endParaRPr lang="en-US" sz="1050" dirty="0"/>
          </a:p>
          <a:p>
            <a:pPr indent="0" marL="0">
              <a:lnSpc>
                <a:spcPct val="118000"/>
              </a:lnSpc>
              <a:buNone/>
            </a:pPr>
            <a:r>
              <a:rPr lang="en-US" sz="1050" dirty="0">
                <a:solidFill>
                  <a:srgbClr val="CADCFC"/>
                </a:solidFill>
                <a:latin typeface="Consolas" pitchFamily="34" charset="0"/>
                <a:ea typeface="Consolas" pitchFamily="34" charset="-122"/>
                <a:cs typeface="Consolas" pitchFamily="34" charset="-120"/>
              </a:rPr>
              <a:t>uvicorn main:app --reload --port 8000</a:t>
            </a:r>
            <a:endParaRPr lang="en-US" sz="1050" dirty="0"/>
          </a:p>
        </p:txBody>
      </p:sp>
      <p:sp>
        <p:nvSpPr>
          <p:cNvPr id="8" name="Text 6"/>
          <p:cNvSpPr txBox="1"/>
          <p:nvPr/>
        </p:nvSpPr>
        <p:spPr>
          <a:xfrm>
            <a:off x="6263640" y="2148840"/>
            <a:ext cx="5120640" cy="292608"/>
          </a:xfrm>
          <a:prstGeom prst="rect">
            <a:avLst/>
          </a:prstGeom>
          <a:noFill/>
          <a:ln/>
        </p:spPr>
        <p:txBody>
          <a:bodyPr wrap="square" lIns="0" tIns="0" rIns="0" bIns="0" rtlCol="0" anchor="ctr"/>
          <a:lstStyle/>
          <a:p>
            <a:pPr indent="0" marL="0">
              <a:buNone/>
            </a:pPr>
            <a:r>
              <a:rPr lang="en-US" sz="1300" b="1" dirty="0">
                <a:solidFill>
                  <a:srgbClr val="F2A93C"/>
                </a:solidFill>
                <a:latin typeface="Calibri" pitchFamily="34" charset="0"/>
                <a:ea typeface="Calibri" pitchFamily="34" charset="-122"/>
                <a:cs typeface="Calibri" pitchFamily="34" charset="-120"/>
              </a:rPr>
              <a:t>2. Frontend</a:t>
            </a:r>
            <a:endParaRPr lang="en-US" sz="1300" dirty="0"/>
          </a:p>
        </p:txBody>
      </p:sp>
      <p:sp>
        <p:nvSpPr>
          <p:cNvPr id="9" name="Shape 7"/>
          <p:cNvSpPr/>
          <p:nvPr/>
        </p:nvSpPr>
        <p:spPr>
          <a:xfrm>
            <a:off x="6263640" y="2514600"/>
            <a:ext cx="5257800" cy="1417320"/>
          </a:xfrm>
          <a:prstGeom prst="roundRect">
            <a:avLst>
              <a:gd name="adj" fmla="val 4516"/>
            </a:avLst>
          </a:prstGeom>
          <a:solidFill>
            <a:srgbClr val="141A47"/>
          </a:solidFill>
          <a:ln/>
        </p:spPr>
      </p:sp>
      <p:sp>
        <p:nvSpPr>
          <p:cNvPr id="10" name="Text 8"/>
          <p:cNvSpPr txBox="1"/>
          <p:nvPr/>
        </p:nvSpPr>
        <p:spPr>
          <a:xfrm>
            <a:off x="6464808" y="2679192"/>
            <a:ext cx="4855464" cy="1088136"/>
          </a:xfrm>
          <a:prstGeom prst="rect">
            <a:avLst/>
          </a:prstGeom>
          <a:noFill/>
          <a:ln/>
        </p:spPr>
        <p:txBody>
          <a:bodyPr wrap="square" lIns="0" tIns="0" rIns="0" bIns="0" rtlCol="0" anchor="t"/>
          <a:lstStyle/>
          <a:p>
            <a:pPr indent="0" marL="0">
              <a:lnSpc>
                <a:spcPct val="118000"/>
              </a:lnSpc>
              <a:buNone/>
            </a:pPr>
            <a:r>
              <a:rPr lang="en-US" sz="1050" dirty="0">
                <a:solidFill>
                  <a:srgbClr val="CADCFC"/>
                </a:solidFill>
                <a:latin typeface="Consolas" pitchFamily="34" charset="0"/>
                <a:ea typeface="Consolas" pitchFamily="34" charset="-122"/>
                <a:cs typeface="Consolas" pitchFamily="34" charset="-120"/>
              </a:rPr>
              <a:t>cd frontend</a:t>
            </a:r>
            <a:endParaRPr lang="en-US" sz="1050" dirty="0"/>
          </a:p>
          <a:p>
            <a:pPr indent="0" marL="0">
              <a:lnSpc>
                <a:spcPct val="118000"/>
              </a:lnSpc>
              <a:buNone/>
            </a:pPr>
            <a:r>
              <a:rPr lang="en-US" sz="1050" dirty="0">
                <a:solidFill>
                  <a:srgbClr val="CADCFC"/>
                </a:solidFill>
                <a:latin typeface="Consolas" pitchFamily="34" charset="0"/>
                <a:ea typeface="Consolas" pitchFamily="34" charset="-122"/>
                <a:cs typeface="Consolas" pitchFamily="34" charset="-120"/>
              </a:rPr>
              <a:t>npm install</a:t>
            </a:r>
            <a:endParaRPr lang="en-US" sz="1050" dirty="0"/>
          </a:p>
          <a:p>
            <a:pPr indent="0" marL="0">
              <a:lnSpc>
                <a:spcPct val="118000"/>
              </a:lnSpc>
              <a:buNone/>
            </a:pPr>
            <a:r>
              <a:rPr lang="en-US" sz="1050" dirty="0">
                <a:solidFill>
                  <a:srgbClr val="CADCFC"/>
                </a:solidFill>
                <a:latin typeface="Consolas" pitchFamily="34" charset="0"/>
                <a:ea typeface="Consolas" pitchFamily="34" charset="-122"/>
                <a:cs typeface="Consolas" pitchFamily="34" charset="-120"/>
              </a:rPr>
              <a:t>npm run dev</a:t>
            </a:r>
            <a:endParaRPr lang="en-US" sz="1050" dirty="0"/>
          </a:p>
        </p:txBody>
      </p:sp>
      <p:sp>
        <p:nvSpPr>
          <p:cNvPr id="11" name="Text 9"/>
          <p:cNvSpPr txBox="1"/>
          <p:nvPr/>
        </p:nvSpPr>
        <p:spPr>
          <a:xfrm>
            <a:off x="640080" y="4297680"/>
            <a:ext cx="1463040" cy="41148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Then open</a:t>
            </a:r>
            <a:endParaRPr lang="en-US" sz="1500" dirty="0"/>
          </a:p>
        </p:txBody>
      </p:sp>
      <p:sp>
        <p:nvSpPr>
          <p:cNvPr id="12" name="Shape 10"/>
          <p:cNvSpPr/>
          <p:nvPr/>
        </p:nvSpPr>
        <p:spPr>
          <a:xfrm>
            <a:off x="1965960" y="4297680"/>
            <a:ext cx="1965960" cy="411480"/>
          </a:xfrm>
          <a:prstGeom prst="roundRect">
            <a:avLst>
              <a:gd name="adj" fmla="val 50000"/>
            </a:avLst>
          </a:prstGeom>
          <a:solidFill>
            <a:srgbClr val="F2A93C"/>
          </a:solidFill>
          <a:ln/>
        </p:spPr>
      </p:sp>
      <p:sp>
        <p:nvSpPr>
          <p:cNvPr id="13" name="Text 11"/>
          <p:cNvSpPr txBox="1"/>
          <p:nvPr/>
        </p:nvSpPr>
        <p:spPr>
          <a:xfrm>
            <a:off x="1965960" y="4297680"/>
            <a:ext cx="1965960" cy="411480"/>
          </a:xfrm>
          <a:prstGeom prst="rect">
            <a:avLst/>
          </a:prstGeom>
          <a:noFill/>
          <a:ln/>
        </p:spPr>
        <p:txBody>
          <a:bodyPr wrap="square" lIns="0" tIns="0" rIns="0" bIns="0" rtlCol="0" anchor="ctr"/>
          <a:lstStyle/>
          <a:p>
            <a:pPr algn="ctr" indent="0" marL="0">
              <a:buNone/>
            </a:pPr>
            <a:r>
              <a:rPr lang="en-US" sz="1400" b="1" dirty="0">
                <a:solidFill>
                  <a:srgbClr val="141A47"/>
                </a:solidFill>
                <a:latin typeface="Calibri" pitchFamily="34" charset="0"/>
                <a:ea typeface="Calibri" pitchFamily="34" charset="-122"/>
                <a:cs typeface="Calibri" pitchFamily="34" charset="-120"/>
              </a:rPr>
              <a:t>localhost:3000</a:t>
            </a:r>
            <a:endParaRPr lang="en-US" sz="1400" dirty="0"/>
          </a:p>
        </p:txBody>
      </p:sp>
      <p:sp>
        <p:nvSpPr>
          <p:cNvPr id="14" name="Text 12"/>
          <p:cNvSpPr txBox="1"/>
          <p:nvPr/>
        </p:nvSpPr>
        <p:spPr>
          <a:xfrm>
            <a:off x="4114800" y="4297680"/>
            <a:ext cx="7223760" cy="411480"/>
          </a:xfrm>
          <a:prstGeom prst="rect">
            <a:avLst/>
          </a:prstGeom>
          <a:noFill/>
          <a:ln/>
        </p:spPr>
        <p:txBody>
          <a:bodyPr wrap="square" lIns="0" tIns="0" rIns="0" bIns="0" rtlCol="0" anchor="ctr"/>
          <a:lstStyle/>
          <a:p>
            <a:pPr indent="0" marL="0">
              <a:buNone/>
            </a:pPr>
            <a:r>
              <a:rPr lang="en-US" sz="1200" i="1" dirty="0">
                <a:solidFill>
                  <a:srgbClr val="AEB9E0"/>
                </a:solidFill>
                <a:latin typeface="Calibri" pitchFamily="34" charset="0"/>
                <a:ea typeface="Calibri" pitchFamily="34" charset="-122"/>
                <a:cs typeface="Calibri" pitchFamily="34" charset="-120"/>
              </a:rPr>
              <a:t>— credentials are already in backend/.env and frontend/.env.local.</a:t>
            </a:r>
            <a:endParaRPr lang="en-US" sz="1200" dirty="0"/>
          </a:p>
        </p:txBody>
      </p:sp>
      <p:sp>
        <p:nvSpPr>
          <p:cNvPr id="15" name="Text 13"/>
          <p:cNvSpPr txBox="1"/>
          <p:nvPr/>
        </p:nvSpPr>
        <p:spPr>
          <a:xfrm>
            <a:off x="640080" y="5166360"/>
            <a:ext cx="54864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sp>
        <p:nvSpPr>
          <p:cNvPr id="16" name="Text 14"/>
          <p:cNvSpPr txBox="1"/>
          <p:nvPr/>
        </p:nvSpPr>
        <p:spPr>
          <a:xfrm>
            <a:off x="640080" y="5669280"/>
            <a:ext cx="7315200" cy="274320"/>
          </a:xfrm>
          <a:prstGeom prst="rect">
            <a:avLst/>
          </a:prstGeom>
          <a:noFill/>
          <a:ln/>
        </p:spPr>
        <p:txBody>
          <a:bodyPr wrap="square" lIns="0" tIns="0" rIns="0" bIns="0" rtlCol="0" anchor="ctr"/>
          <a:lstStyle/>
          <a:p>
            <a:pPr indent="0" marL="0">
              <a:buNone/>
            </a:pPr>
            <a:r>
              <a:rPr lang="en-US" sz="1000" dirty="0">
                <a:solidFill>
                  <a:srgbClr val="8E97C4"/>
                </a:solidFill>
                <a:latin typeface="Calibri" pitchFamily="34" charset="0"/>
                <a:ea typeface="Calibri" pitchFamily="34" charset="-122"/>
                <a:cs typeface="Calibri" pitchFamily="34" charset="-120"/>
              </a:rPr>
              <a:t>Prepared for Trisha Dhawe  ·  September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2026-09-07T11:26:29Z</dcterms:created>
  <dcterms:modified xsi:type="dcterms:W3CDTF">2026-09-07T11:26:29Z</dcterms:modified>
</cp:coreProperties>
</file>